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handoutMasterIdLst>
    <p:handoutMasterId r:id="rId18"/>
  </p:handoutMasterIdLst>
  <p:sldIdLst>
    <p:sldId id="256" r:id="rId2"/>
    <p:sldId id="257" r:id="rId3"/>
    <p:sldId id="268" r:id="rId4"/>
    <p:sldId id="258" r:id="rId5"/>
    <p:sldId id="260" r:id="rId6"/>
    <p:sldId id="261" r:id="rId7"/>
    <p:sldId id="269" r:id="rId8"/>
    <p:sldId id="272" r:id="rId9"/>
    <p:sldId id="273" r:id="rId10"/>
    <p:sldId id="270" r:id="rId11"/>
    <p:sldId id="271" r:id="rId12"/>
    <p:sldId id="264" r:id="rId13"/>
    <p:sldId id="263" r:id="rId14"/>
    <p:sldId id="265" r:id="rId15"/>
    <p:sldId id="266"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19E65"/>
    <a:srgbClr val="ECD2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3" d="100"/>
          <a:sy n="83" d="100"/>
        </p:scale>
        <p:origin x="435" y="6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97C68F1-DD20-4CE5-9F48-8491D59E2175}" type="datetimeFigureOut">
              <a:rPr lang="en-IN" smtClean="0"/>
              <a:t>10-03-2025</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28B0A31-3343-4A86-BFA8-F0C2614604D0}" type="slidenum">
              <a:rPr lang="en-IN" smtClean="0"/>
              <a:t>‹#›</a:t>
            </a:fld>
            <a:endParaRPr lang="en-IN"/>
          </a:p>
        </p:txBody>
      </p:sp>
    </p:spTree>
    <p:extLst>
      <p:ext uri="{BB962C8B-B14F-4D97-AF65-F5344CB8AC3E}">
        <p14:creationId xmlns:p14="http://schemas.microsoft.com/office/powerpoint/2010/main" val="236650953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D4093F-707F-4C51-AB72-E14EF6AD058D}" type="datetimeFigureOut">
              <a:rPr lang="en-IN" smtClean="0"/>
              <a:t>10-03-2025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A338A19-2F04-4D75-BE2A-A4839EE5697C}" type="slidenum">
              <a:rPr lang="en-IN" smtClean="0"/>
              <a:t>‹#›</a:t>
            </a:fld>
            <a:endParaRPr lang="en-IN"/>
          </a:p>
        </p:txBody>
      </p:sp>
    </p:spTree>
    <p:extLst>
      <p:ext uri="{BB962C8B-B14F-4D97-AF65-F5344CB8AC3E}">
        <p14:creationId xmlns:p14="http://schemas.microsoft.com/office/powerpoint/2010/main" val="84177445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A338A19-2F04-4D75-BE2A-A4839EE5697C}" type="slidenum">
              <a:rPr lang="en-IN" smtClean="0"/>
              <a:t>1</a:t>
            </a:fld>
            <a:endParaRPr lang="en-IN"/>
          </a:p>
        </p:txBody>
      </p:sp>
    </p:spTree>
    <p:extLst>
      <p:ext uri="{BB962C8B-B14F-4D97-AF65-F5344CB8AC3E}">
        <p14:creationId xmlns:p14="http://schemas.microsoft.com/office/powerpoint/2010/main" val="31067035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In light of… </a:t>
            </a:r>
            <a:br>
              <a:rPr lang="en-IN" dirty="0"/>
            </a:br>
            <a:r>
              <a:rPr lang="en-IN" dirty="0"/>
              <a:t>UTAUT2, factors, demographics</a:t>
            </a:r>
          </a:p>
        </p:txBody>
      </p:sp>
      <p:sp>
        <p:nvSpPr>
          <p:cNvPr id="4" name="Slide Number Placeholder 3"/>
          <p:cNvSpPr>
            <a:spLocks noGrp="1"/>
          </p:cNvSpPr>
          <p:nvPr>
            <p:ph type="sldNum" sz="quarter" idx="10"/>
          </p:nvPr>
        </p:nvSpPr>
        <p:spPr/>
        <p:txBody>
          <a:bodyPr/>
          <a:lstStyle/>
          <a:p>
            <a:fld id="{EA338A19-2F04-4D75-BE2A-A4839EE5697C}" type="slidenum">
              <a:rPr lang="en-IN" smtClean="0"/>
              <a:t>2</a:t>
            </a:fld>
            <a:endParaRPr lang="en-IN"/>
          </a:p>
        </p:txBody>
      </p:sp>
    </p:spTree>
    <p:extLst>
      <p:ext uri="{BB962C8B-B14F-4D97-AF65-F5344CB8AC3E}">
        <p14:creationId xmlns:p14="http://schemas.microsoft.com/office/powerpoint/2010/main" val="37806962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EA338A19-2F04-4D75-BE2A-A4839EE5697C}" type="slidenum">
              <a:rPr lang="en-IN" smtClean="0"/>
              <a:t>3</a:t>
            </a:fld>
            <a:endParaRPr lang="en-IN"/>
          </a:p>
        </p:txBody>
      </p:sp>
    </p:spTree>
    <p:extLst>
      <p:ext uri="{BB962C8B-B14F-4D97-AF65-F5344CB8AC3E}">
        <p14:creationId xmlns:p14="http://schemas.microsoft.com/office/powerpoint/2010/main" val="1628785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So, how do we use GenAI tools? What do we think of them and what opinions do we have about its ethics and impact? That is what this paper seeks to uncover.</a:t>
            </a:r>
          </a:p>
        </p:txBody>
      </p:sp>
      <p:sp>
        <p:nvSpPr>
          <p:cNvPr id="4" name="Slide Number Placeholder 3"/>
          <p:cNvSpPr>
            <a:spLocks noGrp="1"/>
          </p:cNvSpPr>
          <p:nvPr>
            <p:ph type="sldNum" sz="quarter" idx="10"/>
          </p:nvPr>
        </p:nvSpPr>
        <p:spPr/>
        <p:txBody>
          <a:bodyPr/>
          <a:lstStyle/>
          <a:p>
            <a:fld id="{EA338A19-2F04-4D75-BE2A-A4839EE5697C}" type="slidenum">
              <a:rPr lang="en-IN" smtClean="0"/>
              <a:t>4</a:t>
            </a:fld>
            <a:endParaRPr lang="en-IN"/>
          </a:p>
        </p:txBody>
      </p:sp>
    </p:spTree>
    <p:extLst>
      <p:ext uri="{BB962C8B-B14F-4D97-AF65-F5344CB8AC3E}">
        <p14:creationId xmlns:p14="http://schemas.microsoft.com/office/powerpoint/2010/main" val="41004176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Effort: time saving, performance: quality, efficiency: productivity</a:t>
            </a:r>
          </a:p>
        </p:txBody>
      </p:sp>
      <p:sp>
        <p:nvSpPr>
          <p:cNvPr id="4" name="Slide Number Placeholder 3"/>
          <p:cNvSpPr>
            <a:spLocks noGrp="1"/>
          </p:cNvSpPr>
          <p:nvPr>
            <p:ph type="sldNum" sz="quarter" idx="10"/>
          </p:nvPr>
        </p:nvSpPr>
        <p:spPr/>
        <p:txBody>
          <a:bodyPr/>
          <a:lstStyle/>
          <a:p>
            <a:fld id="{EA338A19-2F04-4D75-BE2A-A4839EE5697C}" type="slidenum">
              <a:rPr lang="en-IN" smtClean="0"/>
              <a:t>5</a:t>
            </a:fld>
            <a:endParaRPr lang="en-IN"/>
          </a:p>
        </p:txBody>
      </p:sp>
    </p:spTree>
    <p:extLst>
      <p:ext uri="{BB962C8B-B14F-4D97-AF65-F5344CB8AC3E}">
        <p14:creationId xmlns:p14="http://schemas.microsoft.com/office/powerpoint/2010/main" val="17047865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A338A19-2F04-4D75-BE2A-A4839EE5697C}" type="slidenum">
              <a:rPr lang="en-IN" smtClean="0"/>
              <a:t>6</a:t>
            </a:fld>
            <a:endParaRPr lang="en-IN"/>
          </a:p>
        </p:txBody>
      </p:sp>
    </p:spTree>
    <p:extLst>
      <p:ext uri="{BB962C8B-B14F-4D97-AF65-F5344CB8AC3E}">
        <p14:creationId xmlns:p14="http://schemas.microsoft.com/office/powerpoint/2010/main" val="29925103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A338A19-2F04-4D75-BE2A-A4839EE5697C}" type="slidenum">
              <a:rPr lang="en-IN" smtClean="0"/>
              <a:t>7</a:t>
            </a:fld>
            <a:endParaRPr lang="en-IN"/>
          </a:p>
        </p:txBody>
      </p:sp>
    </p:spTree>
    <p:extLst>
      <p:ext uri="{BB962C8B-B14F-4D97-AF65-F5344CB8AC3E}">
        <p14:creationId xmlns:p14="http://schemas.microsoft.com/office/powerpoint/2010/main" val="3920367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6E1EF-8C17-6ACD-A86C-2395662E77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7F6D97-49A2-190D-D8CA-4213E27461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3DD17A-DB82-1FFB-F07F-9A3E43A3AAD8}"/>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C698E7A4-03ED-3D0F-80BD-6D78AE276E97}"/>
              </a:ext>
            </a:extLst>
          </p:cNvPr>
          <p:cNvSpPr>
            <a:spLocks noGrp="1"/>
          </p:cNvSpPr>
          <p:nvPr>
            <p:ph type="sldNum" sz="quarter" idx="10"/>
          </p:nvPr>
        </p:nvSpPr>
        <p:spPr/>
        <p:txBody>
          <a:bodyPr/>
          <a:lstStyle/>
          <a:p>
            <a:fld id="{EA338A19-2F04-4D75-BE2A-A4839EE5697C}" type="slidenum">
              <a:rPr lang="en-IN" smtClean="0"/>
              <a:t>8</a:t>
            </a:fld>
            <a:endParaRPr lang="en-IN"/>
          </a:p>
        </p:txBody>
      </p:sp>
    </p:spTree>
    <p:extLst>
      <p:ext uri="{BB962C8B-B14F-4D97-AF65-F5344CB8AC3E}">
        <p14:creationId xmlns:p14="http://schemas.microsoft.com/office/powerpoint/2010/main" val="14639521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774ED6-043D-3D2F-7E3A-96C4C302B7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A773F9-942E-CD07-F769-4D22761850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26AC49-748D-77B6-93FB-8C695039BB2F}"/>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E8030D01-5D6E-37D2-E3C8-5557A33D8F21}"/>
              </a:ext>
            </a:extLst>
          </p:cNvPr>
          <p:cNvSpPr>
            <a:spLocks noGrp="1"/>
          </p:cNvSpPr>
          <p:nvPr>
            <p:ph type="sldNum" sz="quarter" idx="10"/>
          </p:nvPr>
        </p:nvSpPr>
        <p:spPr/>
        <p:txBody>
          <a:bodyPr/>
          <a:lstStyle/>
          <a:p>
            <a:fld id="{EA338A19-2F04-4D75-BE2A-A4839EE5697C}" type="slidenum">
              <a:rPr lang="en-IN" smtClean="0"/>
              <a:t>9</a:t>
            </a:fld>
            <a:endParaRPr lang="en-IN"/>
          </a:p>
        </p:txBody>
      </p:sp>
    </p:spTree>
    <p:extLst>
      <p:ext uri="{BB962C8B-B14F-4D97-AF65-F5344CB8AC3E}">
        <p14:creationId xmlns:p14="http://schemas.microsoft.com/office/powerpoint/2010/main" val="36507689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A338A19-2F04-4D75-BE2A-A4839EE5697C}" type="slidenum">
              <a:rPr lang="en-IN" smtClean="0"/>
              <a:t>10</a:t>
            </a:fld>
            <a:endParaRPr lang="en-IN"/>
          </a:p>
        </p:txBody>
      </p:sp>
    </p:spTree>
    <p:extLst>
      <p:ext uri="{BB962C8B-B14F-4D97-AF65-F5344CB8AC3E}">
        <p14:creationId xmlns:p14="http://schemas.microsoft.com/office/powerpoint/2010/main" val="31247515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A338A19-2F04-4D75-BE2A-A4839EE5697C}" type="slidenum">
              <a:rPr lang="en-IN" smtClean="0"/>
              <a:t>11</a:t>
            </a:fld>
            <a:endParaRPr lang="en-IN"/>
          </a:p>
        </p:txBody>
      </p:sp>
    </p:spTree>
    <p:extLst>
      <p:ext uri="{BB962C8B-B14F-4D97-AF65-F5344CB8AC3E}">
        <p14:creationId xmlns:p14="http://schemas.microsoft.com/office/powerpoint/2010/main" val="13515013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A338A19-2F04-4D75-BE2A-A4839EE5697C}" type="slidenum">
              <a:rPr lang="en-IN" smtClean="0"/>
              <a:t>12</a:t>
            </a:fld>
            <a:endParaRPr lang="en-IN"/>
          </a:p>
        </p:txBody>
      </p:sp>
    </p:spTree>
    <p:extLst>
      <p:ext uri="{BB962C8B-B14F-4D97-AF65-F5344CB8AC3E}">
        <p14:creationId xmlns:p14="http://schemas.microsoft.com/office/powerpoint/2010/main" val="31583709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A338A19-2F04-4D75-BE2A-A4839EE5697C}" type="slidenum">
              <a:rPr lang="en-IN" smtClean="0"/>
              <a:t>13</a:t>
            </a:fld>
            <a:endParaRPr lang="en-IN"/>
          </a:p>
        </p:txBody>
      </p:sp>
    </p:spTree>
    <p:extLst>
      <p:ext uri="{BB962C8B-B14F-4D97-AF65-F5344CB8AC3E}">
        <p14:creationId xmlns:p14="http://schemas.microsoft.com/office/powerpoint/2010/main" val="4944453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A338A19-2F04-4D75-BE2A-A4839EE5697C}" type="slidenum">
              <a:rPr lang="en-IN" smtClean="0"/>
              <a:t>14</a:t>
            </a:fld>
            <a:endParaRPr lang="en-IN"/>
          </a:p>
        </p:txBody>
      </p:sp>
    </p:spTree>
    <p:extLst>
      <p:ext uri="{BB962C8B-B14F-4D97-AF65-F5344CB8AC3E}">
        <p14:creationId xmlns:p14="http://schemas.microsoft.com/office/powerpoint/2010/main" val="9189688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A338A19-2F04-4D75-BE2A-A4839EE5697C}" type="slidenum">
              <a:rPr lang="en-IN" smtClean="0"/>
              <a:t>15</a:t>
            </a:fld>
            <a:endParaRPr lang="en-IN"/>
          </a:p>
        </p:txBody>
      </p:sp>
    </p:spTree>
    <p:extLst>
      <p:ext uri="{BB962C8B-B14F-4D97-AF65-F5344CB8AC3E}">
        <p14:creationId xmlns:p14="http://schemas.microsoft.com/office/powerpoint/2010/main" val="28377750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7D01D0DD-9A5D-4816-858A-18C73CD8CBB0}" type="datetime1">
              <a:rPr lang="en-IN" smtClean="0"/>
              <a:t>10-03-2025</a:t>
            </a:fld>
            <a:endParaRPr lang="en-IN"/>
          </a:p>
        </p:txBody>
      </p:sp>
      <p:sp>
        <p:nvSpPr>
          <p:cNvPr id="5" name="Footer Placeholder 4"/>
          <p:cNvSpPr>
            <a:spLocks noGrp="1"/>
          </p:cNvSpPr>
          <p:nvPr>
            <p:ph type="ftr" sz="quarter" idx="11"/>
          </p:nvPr>
        </p:nvSpPr>
        <p:spPr/>
        <p:txBody>
          <a:bodyPr/>
          <a:lstStyle/>
          <a:p>
            <a:r>
              <a:rPr lang="en-IN"/>
              <a:t>INTERNATIONAL CONFERENCE ON CURRENT TRENDS IN INFORMATION TECHNOLOGY (ICCTIT-2025)</a:t>
            </a:r>
          </a:p>
        </p:txBody>
      </p:sp>
      <p:sp>
        <p:nvSpPr>
          <p:cNvPr id="6" name="Slide Number Placeholder 5"/>
          <p:cNvSpPr>
            <a:spLocks noGrp="1"/>
          </p:cNvSpPr>
          <p:nvPr>
            <p:ph type="sldNum" sz="quarter" idx="12"/>
          </p:nvPr>
        </p:nvSpPr>
        <p:spPr/>
        <p:txBody>
          <a:bodyPr/>
          <a:lstStyle/>
          <a:p>
            <a:fld id="{069A66BF-523A-4823-845B-291A06923E4B}" type="slidenum">
              <a:rPr lang="en-IN" smtClean="0"/>
              <a:t>‹#›</a:t>
            </a:fld>
            <a:endParaRPr lang="en-IN"/>
          </a:p>
        </p:txBody>
      </p:sp>
    </p:spTree>
    <p:extLst>
      <p:ext uri="{BB962C8B-B14F-4D97-AF65-F5344CB8AC3E}">
        <p14:creationId xmlns:p14="http://schemas.microsoft.com/office/powerpoint/2010/main" val="4181324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B5606D54-8CB7-4294-8CB1-9289A096289A}" type="datetime1">
              <a:rPr lang="en-IN" smtClean="0"/>
              <a:t>10-03-2025</a:t>
            </a:fld>
            <a:endParaRPr lang="en-IN"/>
          </a:p>
        </p:txBody>
      </p:sp>
      <p:sp>
        <p:nvSpPr>
          <p:cNvPr id="5" name="Footer Placeholder 4"/>
          <p:cNvSpPr>
            <a:spLocks noGrp="1"/>
          </p:cNvSpPr>
          <p:nvPr>
            <p:ph type="ftr" sz="quarter" idx="11"/>
          </p:nvPr>
        </p:nvSpPr>
        <p:spPr/>
        <p:txBody>
          <a:bodyPr/>
          <a:lstStyle/>
          <a:p>
            <a:r>
              <a:rPr lang="en-IN"/>
              <a:t>INTERNATIONAL CONFERENCE ON CURRENT TRENDS IN INFORMATION TECHNOLOGY (ICCTIT-2025)</a:t>
            </a:r>
          </a:p>
        </p:txBody>
      </p:sp>
      <p:sp>
        <p:nvSpPr>
          <p:cNvPr id="6" name="Slide Number Placeholder 5"/>
          <p:cNvSpPr>
            <a:spLocks noGrp="1"/>
          </p:cNvSpPr>
          <p:nvPr>
            <p:ph type="sldNum" sz="quarter" idx="12"/>
          </p:nvPr>
        </p:nvSpPr>
        <p:spPr/>
        <p:txBody>
          <a:bodyPr/>
          <a:lstStyle/>
          <a:p>
            <a:fld id="{069A66BF-523A-4823-845B-291A06923E4B}" type="slidenum">
              <a:rPr lang="en-IN" smtClean="0"/>
              <a:t>‹#›</a:t>
            </a:fld>
            <a:endParaRPr lang="en-IN"/>
          </a:p>
        </p:txBody>
      </p:sp>
    </p:spTree>
    <p:extLst>
      <p:ext uri="{BB962C8B-B14F-4D97-AF65-F5344CB8AC3E}">
        <p14:creationId xmlns:p14="http://schemas.microsoft.com/office/powerpoint/2010/main" val="19284189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34193C-8321-49FC-82D7-616E8DE989C6}" type="datetime1">
              <a:rPr lang="en-IN" smtClean="0"/>
              <a:t>10-03-2025</a:t>
            </a:fld>
            <a:endParaRPr lang="en-IN"/>
          </a:p>
        </p:txBody>
      </p:sp>
      <p:sp>
        <p:nvSpPr>
          <p:cNvPr id="5" name="Footer Placeholder 4"/>
          <p:cNvSpPr>
            <a:spLocks noGrp="1"/>
          </p:cNvSpPr>
          <p:nvPr>
            <p:ph type="ftr" sz="quarter" idx="11"/>
          </p:nvPr>
        </p:nvSpPr>
        <p:spPr/>
        <p:txBody>
          <a:bodyPr/>
          <a:lstStyle/>
          <a:p>
            <a:r>
              <a:rPr lang="en-IN"/>
              <a:t>INTERNATIONAL CONFERENCE ON CURRENT TRENDS IN INFORMATION TECHNOLOGY (ICCTIT-2025)</a:t>
            </a:r>
          </a:p>
        </p:txBody>
      </p:sp>
      <p:sp>
        <p:nvSpPr>
          <p:cNvPr id="6" name="Slide Number Placeholder 5"/>
          <p:cNvSpPr>
            <a:spLocks noGrp="1"/>
          </p:cNvSpPr>
          <p:nvPr>
            <p:ph type="sldNum" sz="quarter" idx="12"/>
          </p:nvPr>
        </p:nvSpPr>
        <p:spPr/>
        <p:txBody>
          <a:bodyPr/>
          <a:lstStyle/>
          <a:p>
            <a:fld id="{069A66BF-523A-4823-845B-291A06923E4B}" type="slidenum">
              <a:rPr lang="en-IN" smtClean="0"/>
              <a:t>‹#›</a:t>
            </a:fld>
            <a:endParaRPr lang="en-IN"/>
          </a:p>
        </p:txBody>
      </p:sp>
    </p:spTree>
    <p:extLst>
      <p:ext uri="{BB962C8B-B14F-4D97-AF65-F5344CB8AC3E}">
        <p14:creationId xmlns:p14="http://schemas.microsoft.com/office/powerpoint/2010/main" val="34034947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58804446-55DA-4992-9FA6-4755B0150D80}" type="datetime1">
              <a:rPr lang="en-IN" smtClean="0"/>
              <a:t>10-03-2025</a:t>
            </a:fld>
            <a:endParaRPr lang="en-IN"/>
          </a:p>
        </p:txBody>
      </p:sp>
      <p:sp>
        <p:nvSpPr>
          <p:cNvPr id="6" name="Footer Placeholder 5"/>
          <p:cNvSpPr>
            <a:spLocks noGrp="1"/>
          </p:cNvSpPr>
          <p:nvPr>
            <p:ph type="ftr" sz="quarter" idx="11"/>
          </p:nvPr>
        </p:nvSpPr>
        <p:spPr/>
        <p:txBody>
          <a:bodyPr/>
          <a:lstStyle/>
          <a:p>
            <a:r>
              <a:rPr lang="en-IN"/>
              <a:t>INTERNATIONAL CONFERENCE ON CURRENT TRENDS IN INFORMATION TECHNOLOGY (ICCTIT-2025)</a:t>
            </a:r>
          </a:p>
        </p:txBody>
      </p:sp>
      <p:sp>
        <p:nvSpPr>
          <p:cNvPr id="7" name="Slide Number Placeholder 6"/>
          <p:cNvSpPr>
            <a:spLocks noGrp="1"/>
          </p:cNvSpPr>
          <p:nvPr>
            <p:ph type="sldNum" sz="quarter" idx="12"/>
          </p:nvPr>
        </p:nvSpPr>
        <p:spPr/>
        <p:txBody>
          <a:bodyPr/>
          <a:lstStyle/>
          <a:p>
            <a:fld id="{069A66BF-523A-4823-845B-291A06923E4B}" type="slidenum">
              <a:rPr lang="en-IN" smtClean="0"/>
              <a:t>‹#›</a:t>
            </a:fld>
            <a:endParaRPr lang="en-IN"/>
          </a:p>
        </p:txBody>
      </p:sp>
    </p:spTree>
    <p:extLst>
      <p:ext uri="{BB962C8B-B14F-4D97-AF65-F5344CB8AC3E}">
        <p14:creationId xmlns:p14="http://schemas.microsoft.com/office/powerpoint/2010/main" val="17654588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2BBF6EDE-9BCA-42BA-858E-DF38766D5902}" type="datetime1">
              <a:rPr lang="en-IN" smtClean="0"/>
              <a:t>10-03-2025</a:t>
            </a:fld>
            <a:endParaRPr lang="en-IN"/>
          </a:p>
        </p:txBody>
      </p:sp>
      <p:sp>
        <p:nvSpPr>
          <p:cNvPr id="8" name="Footer Placeholder 7"/>
          <p:cNvSpPr>
            <a:spLocks noGrp="1"/>
          </p:cNvSpPr>
          <p:nvPr>
            <p:ph type="ftr" sz="quarter" idx="11"/>
          </p:nvPr>
        </p:nvSpPr>
        <p:spPr/>
        <p:txBody>
          <a:bodyPr/>
          <a:lstStyle/>
          <a:p>
            <a:r>
              <a:rPr lang="en-IN"/>
              <a:t>INTERNATIONAL CONFERENCE ON CURRENT TRENDS IN INFORMATION TECHNOLOGY (ICCTIT-2025)</a:t>
            </a:r>
          </a:p>
        </p:txBody>
      </p:sp>
      <p:sp>
        <p:nvSpPr>
          <p:cNvPr id="9" name="Slide Number Placeholder 8"/>
          <p:cNvSpPr>
            <a:spLocks noGrp="1"/>
          </p:cNvSpPr>
          <p:nvPr>
            <p:ph type="sldNum" sz="quarter" idx="12"/>
          </p:nvPr>
        </p:nvSpPr>
        <p:spPr/>
        <p:txBody>
          <a:bodyPr/>
          <a:lstStyle/>
          <a:p>
            <a:fld id="{069A66BF-523A-4823-845B-291A06923E4B}" type="slidenum">
              <a:rPr lang="en-IN" smtClean="0"/>
              <a:t>‹#›</a:t>
            </a:fld>
            <a:endParaRPr lang="en-IN"/>
          </a:p>
        </p:txBody>
      </p:sp>
    </p:spTree>
    <p:extLst>
      <p:ext uri="{BB962C8B-B14F-4D97-AF65-F5344CB8AC3E}">
        <p14:creationId xmlns:p14="http://schemas.microsoft.com/office/powerpoint/2010/main" val="23694565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0333406D-455A-4283-98C8-7085011C62AE}" type="datetime1">
              <a:rPr lang="en-IN" smtClean="0"/>
              <a:t>10-03-2025</a:t>
            </a:fld>
            <a:endParaRPr lang="en-IN"/>
          </a:p>
        </p:txBody>
      </p:sp>
      <p:sp>
        <p:nvSpPr>
          <p:cNvPr id="4" name="Footer Placeholder 3"/>
          <p:cNvSpPr>
            <a:spLocks noGrp="1"/>
          </p:cNvSpPr>
          <p:nvPr>
            <p:ph type="ftr" sz="quarter" idx="11"/>
          </p:nvPr>
        </p:nvSpPr>
        <p:spPr/>
        <p:txBody>
          <a:bodyPr/>
          <a:lstStyle/>
          <a:p>
            <a:r>
              <a:rPr lang="en-IN"/>
              <a:t>INTERNATIONAL CONFERENCE ON CURRENT TRENDS IN INFORMATION TECHNOLOGY (ICCTIT-2025)</a:t>
            </a:r>
          </a:p>
        </p:txBody>
      </p:sp>
      <p:sp>
        <p:nvSpPr>
          <p:cNvPr id="5" name="Slide Number Placeholder 4"/>
          <p:cNvSpPr>
            <a:spLocks noGrp="1"/>
          </p:cNvSpPr>
          <p:nvPr>
            <p:ph type="sldNum" sz="quarter" idx="12"/>
          </p:nvPr>
        </p:nvSpPr>
        <p:spPr/>
        <p:txBody>
          <a:bodyPr/>
          <a:lstStyle/>
          <a:p>
            <a:fld id="{069A66BF-523A-4823-845B-291A06923E4B}" type="slidenum">
              <a:rPr lang="en-IN" smtClean="0"/>
              <a:t>‹#›</a:t>
            </a:fld>
            <a:endParaRPr lang="en-IN"/>
          </a:p>
        </p:txBody>
      </p:sp>
    </p:spTree>
    <p:extLst>
      <p:ext uri="{BB962C8B-B14F-4D97-AF65-F5344CB8AC3E}">
        <p14:creationId xmlns:p14="http://schemas.microsoft.com/office/powerpoint/2010/main" val="31881361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1FB6213-0E95-4352-8418-ED07B24A67F4}" type="datetime1">
              <a:rPr lang="en-IN" smtClean="0"/>
              <a:t>10-03-2025</a:t>
            </a:fld>
            <a:endParaRPr lang="en-IN"/>
          </a:p>
        </p:txBody>
      </p:sp>
      <p:sp>
        <p:nvSpPr>
          <p:cNvPr id="3" name="Footer Placeholder 2"/>
          <p:cNvSpPr>
            <a:spLocks noGrp="1"/>
          </p:cNvSpPr>
          <p:nvPr>
            <p:ph type="ftr" sz="quarter" idx="11"/>
          </p:nvPr>
        </p:nvSpPr>
        <p:spPr/>
        <p:txBody>
          <a:bodyPr/>
          <a:lstStyle/>
          <a:p>
            <a:r>
              <a:rPr lang="en-IN"/>
              <a:t>INTERNATIONAL CONFERENCE ON CURRENT TRENDS IN INFORMATION TECHNOLOGY (ICCTIT-2025)</a:t>
            </a:r>
          </a:p>
        </p:txBody>
      </p:sp>
      <p:sp>
        <p:nvSpPr>
          <p:cNvPr id="4" name="Slide Number Placeholder 3"/>
          <p:cNvSpPr>
            <a:spLocks noGrp="1"/>
          </p:cNvSpPr>
          <p:nvPr>
            <p:ph type="sldNum" sz="quarter" idx="12"/>
          </p:nvPr>
        </p:nvSpPr>
        <p:spPr/>
        <p:txBody>
          <a:bodyPr/>
          <a:lstStyle/>
          <a:p>
            <a:fld id="{069A66BF-523A-4823-845B-291A06923E4B}" type="slidenum">
              <a:rPr lang="en-IN" smtClean="0"/>
              <a:t>‹#›</a:t>
            </a:fld>
            <a:endParaRPr lang="en-IN"/>
          </a:p>
        </p:txBody>
      </p:sp>
    </p:spTree>
    <p:extLst>
      <p:ext uri="{BB962C8B-B14F-4D97-AF65-F5344CB8AC3E}">
        <p14:creationId xmlns:p14="http://schemas.microsoft.com/office/powerpoint/2010/main" val="15886309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93C7145-B11B-46EC-AE9D-4B32AA5C030D}" type="datetime1">
              <a:rPr lang="en-IN" smtClean="0"/>
              <a:t>10-03-2025</a:t>
            </a:fld>
            <a:endParaRPr lang="en-IN"/>
          </a:p>
        </p:txBody>
      </p:sp>
      <p:sp>
        <p:nvSpPr>
          <p:cNvPr id="6" name="Footer Placeholder 5"/>
          <p:cNvSpPr>
            <a:spLocks noGrp="1"/>
          </p:cNvSpPr>
          <p:nvPr>
            <p:ph type="ftr" sz="quarter" idx="11"/>
          </p:nvPr>
        </p:nvSpPr>
        <p:spPr/>
        <p:txBody>
          <a:bodyPr/>
          <a:lstStyle/>
          <a:p>
            <a:r>
              <a:rPr lang="en-IN"/>
              <a:t>INTERNATIONAL CONFERENCE ON CURRENT TRENDS IN INFORMATION TECHNOLOGY (ICCTIT-2025)</a:t>
            </a:r>
          </a:p>
        </p:txBody>
      </p:sp>
      <p:sp>
        <p:nvSpPr>
          <p:cNvPr id="7" name="Slide Number Placeholder 6"/>
          <p:cNvSpPr>
            <a:spLocks noGrp="1"/>
          </p:cNvSpPr>
          <p:nvPr>
            <p:ph type="sldNum" sz="quarter" idx="12"/>
          </p:nvPr>
        </p:nvSpPr>
        <p:spPr/>
        <p:txBody>
          <a:bodyPr/>
          <a:lstStyle/>
          <a:p>
            <a:fld id="{069A66BF-523A-4823-845B-291A06923E4B}" type="slidenum">
              <a:rPr lang="en-IN" smtClean="0"/>
              <a:t>‹#›</a:t>
            </a:fld>
            <a:endParaRPr lang="en-IN"/>
          </a:p>
        </p:txBody>
      </p:sp>
    </p:spTree>
    <p:extLst>
      <p:ext uri="{BB962C8B-B14F-4D97-AF65-F5344CB8AC3E}">
        <p14:creationId xmlns:p14="http://schemas.microsoft.com/office/powerpoint/2010/main" val="6339315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2106211-8A9F-4A57-A1EA-654128B5035C}" type="datetime1">
              <a:rPr lang="en-IN" smtClean="0"/>
              <a:t>10-03-2025</a:t>
            </a:fld>
            <a:endParaRPr lang="en-IN"/>
          </a:p>
        </p:txBody>
      </p:sp>
      <p:sp>
        <p:nvSpPr>
          <p:cNvPr id="6" name="Footer Placeholder 5"/>
          <p:cNvSpPr>
            <a:spLocks noGrp="1"/>
          </p:cNvSpPr>
          <p:nvPr>
            <p:ph type="ftr" sz="quarter" idx="11"/>
          </p:nvPr>
        </p:nvSpPr>
        <p:spPr/>
        <p:txBody>
          <a:bodyPr/>
          <a:lstStyle/>
          <a:p>
            <a:r>
              <a:rPr lang="en-IN"/>
              <a:t>INTERNATIONAL CONFERENCE ON CURRENT TRENDS IN INFORMATION TECHNOLOGY (ICCTIT-2025)</a:t>
            </a:r>
          </a:p>
        </p:txBody>
      </p:sp>
      <p:sp>
        <p:nvSpPr>
          <p:cNvPr id="7" name="Slide Number Placeholder 6"/>
          <p:cNvSpPr>
            <a:spLocks noGrp="1"/>
          </p:cNvSpPr>
          <p:nvPr>
            <p:ph type="sldNum" sz="quarter" idx="12"/>
          </p:nvPr>
        </p:nvSpPr>
        <p:spPr/>
        <p:txBody>
          <a:bodyPr/>
          <a:lstStyle/>
          <a:p>
            <a:fld id="{069A66BF-523A-4823-845B-291A06923E4B}" type="slidenum">
              <a:rPr lang="en-IN" smtClean="0"/>
              <a:t>‹#›</a:t>
            </a:fld>
            <a:endParaRPr lang="en-IN"/>
          </a:p>
        </p:txBody>
      </p:sp>
    </p:spTree>
    <p:extLst>
      <p:ext uri="{BB962C8B-B14F-4D97-AF65-F5344CB8AC3E}">
        <p14:creationId xmlns:p14="http://schemas.microsoft.com/office/powerpoint/2010/main" val="6872683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2C46A8F-39A1-405D-ADE3-B3AC63B83BDF}" type="datetime1">
              <a:rPr lang="en-IN" smtClean="0"/>
              <a:t>10-03-2025</a:t>
            </a:fld>
            <a:endParaRPr lang="en-IN"/>
          </a:p>
        </p:txBody>
      </p:sp>
      <p:sp>
        <p:nvSpPr>
          <p:cNvPr id="5" name="Footer Placeholder 4"/>
          <p:cNvSpPr>
            <a:spLocks noGrp="1"/>
          </p:cNvSpPr>
          <p:nvPr>
            <p:ph type="ftr" sz="quarter" idx="11"/>
          </p:nvPr>
        </p:nvSpPr>
        <p:spPr/>
        <p:txBody>
          <a:bodyPr/>
          <a:lstStyle/>
          <a:p>
            <a:r>
              <a:rPr lang="en-IN"/>
              <a:t>INTERNATIONAL CONFERENCE ON CURRENT TRENDS IN INFORMATION TECHNOLOGY (ICCTIT-2025)</a:t>
            </a:r>
          </a:p>
        </p:txBody>
      </p:sp>
      <p:sp>
        <p:nvSpPr>
          <p:cNvPr id="6" name="Slide Number Placeholder 5"/>
          <p:cNvSpPr>
            <a:spLocks noGrp="1"/>
          </p:cNvSpPr>
          <p:nvPr>
            <p:ph type="sldNum" sz="quarter" idx="12"/>
          </p:nvPr>
        </p:nvSpPr>
        <p:spPr/>
        <p:txBody>
          <a:bodyPr/>
          <a:lstStyle/>
          <a:p>
            <a:fld id="{069A66BF-523A-4823-845B-291A06923E4B}" type="slidenum">
              <a:rPr lang="en-IN" smtClean="0"/>
              <a:t>‹#›</a:t>
            </a:fld>
            <a:endParaRPr lang="en-IN"/>
          </a:p>
        </p:txBody>
      </p:sp>
    </p:spTree>
    <p:extLst>
      <p:ext uri="{BB962C8B-B14F-4D97-AF65-F5344CB8AC3E}">
        <p14:creationId xmlns:p14="http://schemas.microsoft.com/office/powerpoint/2010/main" val="38885316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7C210C1-5F59-4B39-B829-10EC24C26E5B}" type="datetime1">
              <a:rPr lang="en-IN" smtClean="0"/>
              <a:t>10-03-2025</a:t>
            </a:fld>
            <a:endParaRPr lang="en-IN"/>
          </a:p>
        </p:txBody>
      </p:sp>
      <p:sp>
        <p:nvSpPr>
          <p:cNvPr id="5" name="Footer Placeholder 4"/>
          <p:cNvSpPr>
            <a:spLocks noGrp="1"/>
          </p:cNvSpPr>
          <p:nvPr>
            <p:ph type="ftr" sz="quarter" idx="11"/>
          </p:nvPr>
        </p:nvSpPr>
        <p:spPr/>
        <p:txBody>
          <a:bodyPr/>
          <a:lstStyle/>
          <a:p>
            <a:r>
              <a:rPr lang="en-IN"/>
              <a:t>INTERNATIONAL CONFERENCE ON CURRENT TRENDS IN INFORMATION TECHNOLOGY (ICCTIT-2025)</a:t>
            </a:r>
          </a:p>
        </p:txBody>
      </p:sp>
      <p:sp>
        <p:nvSpPr>
          <p:cNvPr id="6" name="Slide Number Placeholder 5"/>
          <p:cNvSpPr>
            <a:spLocks noGrp="1"/>
          </p:cNvSpPr>
          <p:nvPr>
            <p:ph type="sldNum" sz="quarter" idx="12"/>
          </p:nvPr>
        </p:nvSpPr>
        <p:spPr/>
        <p:txBody>
          <a:bodyPr/>
          <a:lstStyle/>
          <a:p>
            <a:fld id="{069A66BF-523A-4823-845B-291A06923E4B}" type="slidenum">
              <a:rPr lang="en-IN" smtClean="0"/>
              <a:t>‹#›</a:t>
            </a:fld>
            <a:endParaRPr lang="en-IN"/>
          </a:p>
        </p:txBody>
      </p:sp>
    </p:spTree>
    <p:extLst>
      <p:ext uri="{BB962C8B-B14F-4D97-AF65-F5344CB8AC3E}">
        <p14:creationId xmlns:p14="http://schemas.microsoft.com/office/powerpoint/2010/main" val="42851993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83000"/>
            <a:lum/>
          </a:blip>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1F8FC68-55AE-4ED4-9E48-7C9380BE6272}" type="datetime1">
              <a:rPr lang="en-IN" smtClean="0"/>
              <a:t>10-03-2025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INTERNATIONAL CONFERENCE ON CURRENT TRENDS IN INFORMATION TECHNOLOGY (ICCTIT-2025)</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69A66BF-523A-4823-845B-291A06923E4B}" type="slidenum">
              <a:rPr lang="en-IN" smtClean="0"/>
              <a:t>‹#›</a:t>
            </a:fld>
            <a:endParaRPr lang="en-IN"/>
          </a:p>
        </p:txBody>
      </p:sp>
    </p:spTree>
    <p:extLst>
      <p:ext uri="{BB962C8B-B14F-4D97-AF65-F5344CB8AC3E}">
        <p14:creationId xmlns:p14="http://schemas.microsoft.com/office/powerpoint/2010/main" val="30876210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 y="1700847"/>
            <a:ext cx="12191997" cy="1420813"/>
          </a:xfrm>
          <a:solidFill>
            <a:srgbClr val="F19E65"/>
          </a:solidFill>
        </p:spPr>
        <p:txBody>
          <a:bodyPr>
            <a:normAutofit fontScale="90000"/>
          </a:bodyPr>
          <a:lstStyle/>
          <a:p>
            <a:r>
              <a:rPr lang="en-IN" sz="2400" b="1" dirty="0">
                <a:latin typeface="Times New Roman" panose="02020603050405020304" pitchFamily="18" charset="0"/>
                <a:cs typeface="Times New Roman" panose="02020603050405020304" pitchFamily="18" charset="0"/>
              </a:rPr>
              <a:t>INTERNATIONAL CONFERENCE </a:t>
            </a:r>
            <a:br>
              <a:rPr lang="en-IN" sz="2400" b="1" dirty="0">
                <a:latin typeface="Times New Roman" panose="02020603050405020304" pitchFamily="18" charset="0"/>
                <a:cs typeface="Times New Roman" panose="02020603050405020304" pitchFamily="18" charset="0"/>
              </a:rPr>
            </a:br>
            <a:r>
              <a:rPr lang="en-IN" sz="2400" b="1" dirty="0">
                <a:latin typeface="Times New Roman" panose="02020603050405020304" pitchFamily="18" charset="0"/>
                <a:cs typeface="Times New Roman" panose="02020603050405020304" pitchFamily="18" charset="0"/>
              </a:rPr>
              <a:t>ON </a:t>
            </a:r>
            <a:br>
              <a:rPr lang="en-IN" sz="2400" b="1" dirty="0">
                <a:latin typeface="Times New Roman" panose="02020603050405020304" pitchFamily="18" charset="0"/>
                <a:cs typeface="Times New Roman" panose="02020603050405020304" pitchFamily="18" charset="0"/>
              </a:rPr>
            </a:br>
            <a:r>
              <a:rPr lang="en-IN" sz="2400" b="1" dirty="0">
                <a:latin typeface="Times New Roman" panose="02020603050405020304" pitchFamily="18" charset="0"/>
                <a:cs typeface="Times New Roman" panose="02020603050405020304" pitchFamily="18" charset="0"/>
              </a:rPr>
              <a:t>CURRENT TRENDS IN INFORMATION TECHNOLOGY (ICCTIT-2025)</a:t>
            </a:r>
            <a:br>
              <a:rPr lang="en-IN" sz="2400" b="1" dirty="0">
                <a:latin typeface="Times New Roman" panose="02020603050405020304" pitchFamily="18" charset="0"/>
                <a:cs typeface="Times New Roman" panose="02020603050405020304" pitchFamily="18" charset="0"/>
              </a:rPr>
            </a:br>
            <a:r>
              <a:rPr lang="en-IN" sz="1800" b="1" i="1" dirty="0">
                <a:latin typeface="Times New Roman" panose="02020603050405020304" pitchFamily="18" charset="0"/>
                <a:cs typeface="Times New Roman" panose="02020603050405020304" pitchFamily="18" charset="0"/>
              </a:rPr>
              <a:t>Organized by </a:t>
            </a:r>
            <a:br>
              <a:rPr lang="en-IN" sz="1800" b="1" i="1" dirty="0">
                <a:latin typeface="Times New Roman" panose="02020603050405020304" pitchFamily="18" charset="0"/>
                <a:cs typeface="Times New Roman" panose="02020603050405020304" pitchFamily="18" charset="0"/>
              </a:rPr>
            </a:br>
            <a:r>
              <a:rPr lang="en-IN" sz="1800" b="1" dirty="0">
                <a:latin typeface="Times New Roman" panose="02020603050405020304" pitchFamily="18" charset="0"/>
                <a:cs typeface="Times New Roman" panose="02020603050405020304" pitchFamily="18" charset="0"/>
              </a:rPr>
              <a:t>School of Information Technology, St. Joseph’s University, Bangalore</a:t>
            </a:r>
            <a:endParaRPr lang="en-IN" sz="2400" b="1"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732348" y="0"/>
            <a:ext cx="10459651" cy="1655762"/>
          </a:xfrm>
        </p:spPr>
        <p:txBody>
          <a:bodyPr>
            <a:normAutofit/>
          </a:bodyPr>
          <a:lstStyle/>
          <a:p>
            <a:r>
              <a:rPr lang="en-IN" sz="3600" b="1" dirty="0">
                <a:latin typeface="Times New Roman" panose="02020603050405020304" pitchFamily="18" charset="0"/>
                <a:cs typeface="Times New Roman" panose="02020603050405020304" pitchFamily="18" charset="0"/>
              </a:rPr>
              <a:t>ST JOSEPH’S UNIVERSITY </a:t>
            </a:r>
          </a:p>
          <a:p>
            <a:r>
              <a:rPr lang="en-US" sz="2000" b="1" dirty="0">
                <a:latin typeface="Times New Roman" panose="02020603050405020304" pitchFamily="18" charset="0"/>
                <a:cs typeface="Times New Roman" panose="02020603050405020304" pitchFamily="18" charset="0"/>
              </a:rPr>
              <a:t>A Public-Private-Partnership University under RUSA 2.0 of MHRD (Government of India), </a:t>
            </a:r>
          </a:p>
          <a:p>
            <a:r>
              <a:rPr lang="en-US" sz="2000" b="1" dirty="0">
                <a:latin typeface="Times New Roman" panose="02020603050405020304" pitchFamily="18" charset="0"/>
                <a:cs typeface="Times New Roman" panose="02020603050405020304" pitchFamily="18" charset="0"/>
              </a:rPr>
              <a:t>established by the Karnataka Govt. Act No. 24 of 2021 </a:t>
            </a:r>
            <a:endParaRPr lang="en-IN" sz="2000" b="1" dirty="0">
              <a:latin typeface="Times New Roman" panose="02020603050405020304" pitchFamily="18" charset="0"/>
              <a:cs typeface="Times New Roman" panose="02020603050405020304" pitchFamily="18" charset="0"/>
            </a:endParaRPr>
          </a:p>
        </p:txBody>
      </p:sp>
      <p:pic>
        <p:nvPicPr>
          <p:cNvPr id="1026" name="Picture 2" descr="St Joseph's University,Bengaluru"/>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1732349" cy="1655762"/>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10468615" y="2001472"/>
            <a:ext cx="1709733" cy="307777"/>
          </a:xfrm>
          <a:prstGeom prst="rect">
            <a:avLst/>
          </a:prstGeom>
          <a:solidFill>
            <a:srgbClr val="F19E65"/>
          </a:solidFill>
        </p:spPr>
        <p:txBody>
          <a:bodyPr wrap="square">
            <a:spAutoFit/>
          </a:bodyPr>
          <a:lstStyle/>
          <a:p>
            <a:r>
              <a:rPr lang="en-IN" sz="1400" b="1" dirty="0">
                <a:latin typeface="Times New Roman" panose="02020603050405020304" pitchFamily="18" charset="0"/>
                <a:cs typeface="Times New Roman" panose="02020603050405020304" pitchFamily="18" charset="0"/>
              </a:rPr>
              <a:t>Knowledge Partner</a:t>
            </a:r>
          </a:p>
        </p:txBody>
      </p:sp>
      <p:sp>
        <p:nvSpPr>
          <p:cNvPr id="5" name="Rectangle 4"/>
          <p:cNvSpPr/>
          <p:nvPr/>
        </p:nvSpPr>
        <p:spPr>
          <a:xfrm>
            <a:off x="1" y="3313706"/>
            <a:ext cx="12191999" cy="1908215"/>
          </a:xfrm>
          <a:prstGeom prst="rect">
            <a:avLst/>
          </a:prstGeom>
        </p:spPr>
        <p:txBody>
          <a:bodyPr wrap="square">
            <a:spAutoFit/>
          </a:bodyPr>
          <a:lstStyle/>
          <a:p>
            <a:pPr algn="ctr"/>
            <a:r>
              <a:rPr lang="en-US" sz="3200" b="0" i="0" dirty="0">
                <a:solidFill>
                  <a:srgbClr val="222222"/>
                </a:solidFill>
                <a:effectLst/>
                <a:latin typeface="Arial" panose="020B0604020202020204" pitchFamily="34" charset="0"/>
              </a:rPr>
              <a:t>Exploring the Usage of Generative AI by The</a:t>
            </a:r>
            <a:br>
              <a:rPr lang="en-US" sz="3200" dirty="0"/>
            </a:br>
            <a:r>
              <a:rPr lang="en-US" sz="3200" b="0" i="0" dirty="0">
                <a:solidFill>
                  <a:srgbClr val="222222"/>
                </a:solidFill>
                <a:effectLst/>
                <a:latin typeface="Arial" panose="020B0604020202020204" pitchFamily="34" charset="0"/>
              </a:rPr>
              <a:t>Bengaluru Urban Upper Middle Class</a:t>
            </a:r>
            <a:br>
              <a:rPr lang="en-US" sz="3000" dirty="0">
                <a:latin typeface="Times New Roman" panose="02020603050405020304" pitchFamily="18" charset="0"/>
                <a:cs typeface="Times New Roman" panose="02020603050405020304" pitchFamily="18" charset="0"/>
              </a:rPr>
            </a:br>
            <a:r>
              <a:rPr lang="en-US" sz="2400" i="1" dirty="0">
                <a:latin typeface="Times New Roman" panose="02020603050405020304" pitchFamily="18" charset="0"/>
                <a:cs typeface="Times New Roman" panose="02020603050405020304" pitchFamily="18" charset="0"/>
              </a:rPr>
              <a:t>Presented by </a:t>
            </a:r>
            <a:br>
              <a:rPr lang="en-US" sz="2400" i="1"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Krithika Kannan</a:t>
            </a:r>
            <a:endParaRPr lang="en-IN" sz="3000" dirty="0"/>
          </a:p>
        </p:txBody>
      </p:sp>
      <p:sp>
        <p:nvSpPr>
          <p:cNvPr id="7" name="Text Placeholder 6"/>
          <p:cNvSpPr>
            <a:spLocks noGrp="1"/>
          </p:cNvSpPr>
          <p:nvPr/>
        </p:nvSpPr>
        <p:spPr>
          <a:xfrm>
            <a:off x="1" y="5249411"/>
            <a:ext cx="12191999" cy="153352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75000"/>
                  </a:schemeClr>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Arial" panose="020B0604020202020204" pitchFamily="34" charset="0"/>
                <a:ea typeface="+mn-ea"/>
                <a:cs typeface="Arial" panose="020B0604020202020204" pitchFamily="34" charset="0"/>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algn="ctr"/>
            <a:r>
              <a:rPr lang="en-US" sz="2000" dirty="0">
                <a:solidFill>
                  <a:schemeClr val="tx1"/>
                </a:solidFill>
                <a:latin typeface="Times New Roman" panose="02020603050405020304" pitchFamily="18" charset="0"/>
                <a:cs typeface="Times New Roman" panose="02020603050405020304" pitchFamily="18" charset="0"/>
              </a:rPr>
              <a:t>Paper ID: ICCTIT25069</a:t>
            </a:r>
            <a:endParaRPr lang="en-IN" sz="2000" dirty="0">
              <a:solidFill>
                <a:schemeClr val="tx1"/>
              </a:solidFill>
              <a:latin typeface="Times New Roman" panose="02020603050405020304" pitchFamily="18" charset="0"/>
              <a:cs typeface="Times New Roman" panose="02020603050405020304" pitchFamily="18" charset="0"/>
            </a:endParaRPr>
          </a:p>
        </p:txBody>
      </p:sp>
      <p:pic>
        <p:nvPicPr>
          <p:cNvPr id="1028" name="Picture 4" descr="https://www.sxcce.edu.in/wp-content/uploads/2022/03/ict-1.png"/>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9420" r="12168"/>
          <a:stretch/>
        </p:blipFill>
        <p:spPr bwMode="auto">
          <a:xfrm>
            <a:off x="10544815" y="2309249"/>
            <a:ext cx="1608445" cy="795901"/>
          </a:xfrm>
          <a:prstGeom prst="rect">
            <a:avLst/>
          </a:prstGeom>
          <a:noFill/>
        </p:spPr>
      </p:pic>
      <p:sp>
        <p:nvSpPr>
          <p:cNvPr id="9" name="Footer Placeholder 9"/>
          <p:cNvSpPr>
            <a:spLocks noGrp="1"/>
          </p:cNvSpPr>
          <p:nvPr>
            <p:ph type="ftr" sz="quarter" idx="11"/>
          </p:nvPr>
        </p:nvSpPr>
        <p:spPr>
          <a:xfrm>
            <a:off x="0" y="6265862"/>
            <a:ext cx="12192000" cy="592138"/>
          </a:xfrm>
          <a:gradFill flip="none" rotWithShape="1">
            <a:gsLst>
              <a:gs pos="0">
                <a:schemeClr val="accent2">
                  <a:lumMod val="40000"/>
                  <a:lumOff val="60000"/>
                </a:schemeClr>
              </a:gs>
              <a:gs pos="0">
                <a:schemeClr val="accent2">
                  <a:lumMod val="95000"/>
                  <a:lumOff val="5000"/>
                </a:schemeClr>
              </a:gs>
              <a:gs pos="100000">
                <a:schemeClr val="accent2">
                  <a:lumMod val="60000"/>
                </a:schemeClr>
              </a:gs>
            </a:gsLst>
            <a:path path="circle">
              <a:fillToRect l="50000" t="130000" r="50000" b="-30000"/>
            </a:path>
            <a:tileRect/>
          </a:gradFill>
        </p:spPr>
        <p:txBody>
          <a:bodyPr/>
          <a:lstStyle/>
          <a:p>
            <a:r>
              <a:rPr lang="en-IN" b="1" dirty="0">
                <a:solidFill>
                  <a:schemeClr val="tx1"/>
                </a:solidFill>
                <a:latin typeface="Times New Roman" panose="02020603050405020304" pitchFamily="18" charset="0"/>
                <a:cs typeface="Times New Roman" panose="02020603050405020304" pitchFamily="18" charset="0"/>
              </a:rPr>
              <a:t>INTERNATIONAL CONFERENCE ON CURRENT TRENDS IN INFORMATION TECHNOLOGY (ICCTIT-2025)</a:t>
            </a:r>
            <a:endParaRPr lang="en-IN" dirty="0">
              <a:solidFill>
                <a:schemeClr val="tx1"/>
              </a:solidFill>
            </a:endParaRPr>
          </a:p>
        </p:txBody>
      </p:sp>
      <p:sp>
        <p:nvSpPr>
          <p:cNvPr id="6" name="Rectangle 5"/>
          <p:cNvSpPr/>
          <p:nvPr/>
        </p:nvSpPr>
        <p:spPr>
          <a:xfrm>
            <a:off x="-1" y="6300321"/>
            <a:ext cx="1664238" cy="523220"/>
          </a:xfrm>
          <a:prstGeom prst="rect">
            <a:avLst/>
          </a:prstGeom>
        </p:spPr>
        <p:txBody>
          <a:bodyPr wrap="none">
            <a:spAutoFit/>
          </a:bodyPr>
          <a:lstStyle/>
          <a:p>
            <a:pPr algn="ctr"/>
            <a:r>
              <a:rPr lang="en-US" sz="1400" b="1" dirty="0">
                <a:latin typeface="Times New Roman" panose="02020603050405020304" pitchFamily="18" charset="0"/>
                <a:cs typeface="Times New Roman" panose="02020603050405020304" pitchFamily="18" charset="0"/>
              </a:rPr>
              <a:t>Date:</a:t>
            </a:r>
            <a:endParaRPr lang="en-IN" sz="1400" b="1" dirty="0">
              <a:latin typeface="Times New Roman" panose="02020603050405020304" pitchFamily="18" charset="0"/>
              <a:cs typeface="Times New Roman" panose="02020603050405020304" pitchFamily="18" charset="0"/>
            </a:endParaRPr>
          </a:p>
          <a:p>
            <a:r>
              <a:rPr lang="en-IN" sz="1400" b="1" dirty="0">
                <a:latin typeface="Times New Roman" panose="02020603050405020304" pitchFamily="18" charset="0"/>
                <a:cs typeface="Times New Roman" panose="02020603050405020304" pitchFamily="18" charset="0"/>
              </a:rPr>
              <a:t>10</a:t>
            </a:r>
            <a:r>
              <a:rPr lang="en-IN" sz="1400" b="1" baseline="30000" dirty="0">
                <a:latin typeface="Times New Roman" panose="02020603050405020304" pitchFamily="18" charset="0"/>
                <a:cs typeface="Times New Roman" panose="02020603050405020304" pitchFamily="18" charset="0"/>
              </a:rPr>
              <a:t>th</a:t>
            </a:r>
            <a:r>
              <a:rPr lang="en-IN" sz="1400" b="1" dirty="0">
                <a:latin typeface="Times New Roman" panose="02020603050405020304" pitchFamily="18" charset="0"/>
                <a:cs typeface="Times New Roman" panose="02020603050405020304" pitchFamily="18" charset="0"/>
              </a:rPr>
              <a:t> MARCH, 2025</a:t>
            </a:r>
          </a:p>
        </p:txBody>
      </p:sp>
      <p:sp>
        <p:nvSpPr>
          <p:cNvPr id="8" name="Slide Number Placeholder 7"/>
          <p:cNvSpPr>
            <a:spLocks noGrp="1"/>
          </p:cNvSpPr>
          <p:nvPr>
            <p:ph type="sldNum" sz="quarter" idx="12"/>
          </p:nvPr>
        </p:nvSpPr>
        <p:spPr/>
        <p:txBody>
          <a:bodyPr/>
          <a:lstStyle/>
          <a:p>
            <a:fld id="{069A66BF-523A-4823-845B-291A06923E4B}" type="slidenum">
              <a:rPr lang="en-IN" smtClean="0">
                <a:solidFill>
                  <a:schemeClr val="tx1"/>
                </a:solidFill>
              </a:rPr>
              <a:t>1</a:t>
            </a:fld>
            <a:endParaRPr lang="en-IN" dirty="0">
              <a:solidFill>
                <a:schemeClr val="tx1"/>
              </a:solidFill>
            </a:endParaRPr>
          </a:p>
        </p:txBody>
      </p:sp>
    </p:spTree>
    <p:extLst>
      <p:ext uri="{BB962C8B-B14F-4D97-AF65-F5344CB8AC3E}">
        <p14:creationId xmlns:p14="http://schemas.microsoft.com/office/powerpoint/2010/main" val="11575702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228725"/>
          </a:xfrm>
          <a:solidFill>
            <a:schemeClr val="accent2">
              <a:alpha val="36000"/>
            </a:schemeClr>
          </a:solidFill>
        </p:spPr>
        <p:txBody>
          <a:bodyPr>
            <a:normAutofit/>
          </a:bodyPr>
          <a:lstStyle/>
          <a:p>
            <a:pPr algn="ctr"/>
            <a:r>
              <a:rPr lang="en-US" sz="3600" b="1" dirty="0">
                <a:latin typeface="Times New Roman" panose="02020603050405020304" pitchFamily="18" charset="0"/>
                <a:cs typeface="Times New Roman" panose="02020603050405020304" pitchFamily="18" charset="0"/>
              </a:rPr>
              <a:t>INTRODUCTION </a:t>
            </a:r>
            <a:endParaRPr lang="en-IN" sz="3600" b="1" dirty="0">
              <a:latin typeface="Times New Roman" panose="02020603050405020304" pitchFamily="18" charset="0"/>
              <a:cs typeface="Times New Roman" panose="02020603050405020304" pitchFamily="18" charset="0"/>
            </a:endParaRPr>
          </a:p>
        </p:txBody>
      </p:sp>
      <p:sp>
        <p:nvSpPr>
          <p:cNvPr id="4" name="Content Placeholder 2"/>
          <p:cNvSpPr>
            <a:spLocks noGrp="1"/>
          </p:cNvSpPr>
          <p:nvPr>
            <p:ph idx="1"/>
          </p:nvPr>
        </p:nvSpPr>
        <p:spPr>
          <a:xfrm>
            <a:off x="0" y="1228725"/>
            <a:ext cx="12306300" cy="5629275"/>
          </a:xfrm>
        </p:spPr>
        <p:txBody>
          <a:bodyPr/>
          <a:lstStyle/>
          <a:p>
            <a:r>
              <a:rPr lang="en-US" sz="3200" dirty="0">
                <a:latin typeface="Times New Roman" panose="02020603050405020304" pitchFamily="18" charset="0"/>
                <a:cs typeface="Times New Roman" panose="02020603050405020304" pitchFamily="18" charset="0"/>
              </a:rPr>
              <a:t>Generative AI and its usage are rapidly growing in popularity, and we have barely scratched the surface in terms of its applications. </a:t>
            </a:r>
          </a:p>
          <a:p>
            <a:r>
              <a:rPr lang="en-US" sz="3200" dirty="0">
                <a:latin typeface="Times New Roman" panose="02020603050405020304" pitchFamily="18" charset="0"/>
                <a:cs typeface="Times New Roman" panose="02020603050405020304" pitchFamily="18" charset="0"/>
              </a:rPr>
              <a:t>In light of GenAI’s fast-increasing relevance, it is important to examine the attitudes of users towards this new technology. </a:t>
            </a:r>
          </a:p>
          <a:p>
            <a:r>
              <a:rPr lang="en-US" sz="3200" dirty="0">
                <a:latin typeface="Times New Roman" panose="02020603050405020304" pitchFamily="18" charset="0"/>
                <a:cs typeface="Times New Roman" panose="02020603050405020304" pitchFamily="18" charset="0"/>
              </a:rPr>
              <a:t>This paper explores attitudes and usage patterns of generative AI by the urban upper middle class Bengaluru citizen, namely with respect to:</a:t>
            </a:r>
          </a:p>
          <a:p>
            <a:pPr lvl="1"/>
            <a:r>
              <a:rPr lang="en-US" sz="2800" dirty="0">
                <a:latin typeface="Times New Roman" panose="02020603050405020304" pitchFamily="18" charset="0"/>
                <a:cs typeface="Times New Roman" panose="02020603050405020304" pitchFamily="18" charset="0"/>
              </a:rPr>
              <a:t>UTAUT2 [2][3] (unified theory of acceptance and use of technology).</a:t>
            </a:r>
          </a:p>
          <a:p>
            <a:pPr lvl="1"/>
            <a:r>
              <a:rPr lang="en-US" sz="2800" dirty="0">
                <a:latin typeface="Times New Roman" panose="02020603050405020304" pitchFamily="18" charset="0"/>
                <a:cs typeface="Times New Roman" panose="02020603050405020304" pitchFamily="18" charset="0"/>
              </a:rPr>
              <a:t>Factors such as trust, ease of use, ethical considerations, perceived social impact and efficiency.</a:t>
            </a:r>
          </a:p>
          <a:p>
            <a:pPr lvl="1"/>
            <a:r>
              <a:rPr lang="en-US" sz="2800" dirty="0">
                <a:latin typeface="Times New Roman" panose="02020603050405020304" pitchFamily="18" charset="0"/>
                <a:cs typeface="Times New Roman" panose="02020603050405020304" pitchFamily="18" charset="0"/>
              </a:rPr>
              <a:t>Demographics, namely gender and age group.</a:t>
            </a:r>
            <a:endParaRPr lang="en-US" sz="2400" i="1" dirty="0">
              <a:latin typeface="Times New Roman" panose="02020603050405020304" pitchFamily="18" charset="0"/>
              <a:cs typeface="Times New Roman" panose="02020603050405020304" pitchFamily="18" charset="0"/>
            </a:endParaRPr>
          </a:p>
          <a:p>
            <a:pPr marL="914400" lvl="2" indent="0">
              <a:buNone/>
            </a:pPr>
            <a:endParaRPr lang="en-IN" dirty="0">
              <a:latin typeface="Times New Roman" panose="02020603050405020304" pitchFamily="18" charset="0"/>
              <a:cs typeface="Times New Roman" panose="02020603050405020304" pitchFamily="18" charset="0"/>
            </a:endParaRPr>
          </a:p>
        </p:txBody>
      </p:sp>
      <p:sp>
        <p:nvSpPr>
          <p:cNvPr id="5" name="Footer Placeholder 9"/>
          <p:cNvSpPr>
            <a:spLocks noGrp="1"/>
          </p:cNvSpPr>
          <p:nvPr>
            <p:ph type="ftr" sz="quarter" idx="11"/>
          </p:nvPr>
        </p:nvSpPr>
        <p:spPr>
          <a:xfrm>
            <a:off x="0" y="6265862"/>
            <a:ext cx="12192000" cy="592138"/>
          </a:xfrm>
          <a:gradFill flip="none" rotWithShape="1">
            <a:gsLst>
              <a:gs pos="0">
                <a:schemeClr val="accent2">
                  <a:lumMod val="0"/>
                  <a:lumOff val="100000"/>
                </a:schemeClr>
              </a:gs>
              <a:gs pos="9000">
                <a:schemeClr val="accent2">
                  <a:lumMod val="92000"/>
                  <a:lumOff val="8000"/>
                  <a:alpha val="94000"/>
                </a:schemeClr>
              </a:gs>
              <a:gs pos="100000">
                <a:schemeClr val="accent2">
                  <a:lumMod val="60000"/>
                </a:schemeClr>
              </a:gs>
            </a:gsLst>
            <a:path path="circle">
              <a:fillToRect l="50000" t="130000" r="50000" b="-30000"/>
            </a:path>
            <a:tileRect/>
          </a:gradFill>
        </p:spPr>
        <p:txBody>
          <a:bodyPr/>
          <a:lstStyle/>
          <a:p>
            <a:r>
              <a:rPr lang="en-IN" b="1" dirty="0">
                <a:solidFill>
                  <a:schemeClr val="tx1"/>
                </a:solidFill>
                <a:latin typeface="Times New Roman" panose="02020603050405020304" pitchFamily="18" charset="0"/>
                <a:cs typeface="Times New Roman" panose="02020603050405020304" pitchFamily="18" charset="0"/>
              </a:rPr>
              <a:t>INTERNATIONAL CONFERENCE ON CURRENT TRENDS IN INFORMATION TECHNOLOGY (ICCTIT-2025)</a:t>
            </a:r>
            <a:endParaRPr lang="en-IN" dirty="0">
              <a:solidFill>
                <a:schemeClr val="tx1"/>
              </a:solidFill>
            </a:endParaRPr>
          </a:p>
        </p:txBody>
      </p:sp>
      <p:sp>
        <p:nvSpPr>
          <p:cNvPr id="6" name="Slide Number Placeholder 5"/>
          <p:cNvSpPr>
            <a:spLocks noGrp="1"/>
          </p:cNvSpPr>
          <p:nvPr>
            <p:ph type="sldNum" sz="quarter" idx="12"/>
          </p:nvPr>
        </p:nvSpPr>
        <p:spPr/>
        <p:txBody>
          <a:bodyPr/>
          <a:lstStyle/>
          <a:p>
            <a:fld id="{069A66BF-523A-4823-845B-291A06923E4B}" type="slidenum">
              <a:rPr lang="en-IN" smtClean="0">
                <a:solidFill>
                  <a:schemeClr val="tx1"/>
                </a:solidFill>
              </a:rPr>
              <a:t>2</a:t>
            </a:fld>
            <a:endParaRPr lang="en-IN" dirty="0">
              <a:solidFill>
                <a:schemeClr val="tx1"/>
              </a:solidFill>
            </a:endParaRPr>
          </a:p>
        </p:txBody>
      </p:sp>
      <p:sp>
        <p:nvSpPr>
          <p:cNvPr id="7" name="Rectangle 6"/>
          <p:cNvSpPr/>
          <p:nvPr/>
        </p:nvSpPr>
        <p:spPr>
          <a:xfrm>
            <a:off x="-1" y="6300321"/>
            <a:ext cx="1664238" cy="523220"/>
          </a:xfrm>
          <a:prstGeom prst="rect">
            <a:avLst/>
          </a:prstGeom>
        </p:spPr>
        <p:txBody>
          <a:bodyPr wrap="none">
            <a:spAutoFit/>
          </a:bodyPr>
          <a:lstStyle/>
          <a:p>
            <a:pPr algn="ctr"/>
            <a:r>
              <a:rPr lang="en-US" sz="1400" b="1" dirty="0">
                <a:latin typeface="Times New Roman" panose="02020603050405020304" pitchFamily="18" charset="0"/>
                <a:cs typeface="Times New Roman" panose="02020603050405020304" pitchFamily="18" charset="0"/>
              </a:rPr>
              <a:t>Date:</a:t>
            </a:r>
            <a:endParaRPr lang="en-IN" sz="1400" b="1" dirty="0">
              <a:latin typeface="Times New Roman" panose="02020603050405020304" pitchFamily="18" charset="0"/>
              <a:cs typeface="Times New Roman" panose="02020603050405020304" pitchFamily="18" charset="0"/>
            </a:endParaRPr>
          </a:p>
          <a:p>
            <a:r>
              <a:rPr lang="en-IN" sz="1400" b="1" dirty="0">
                <a:latin typeface="Times New Roman" panose="02020603050405020304" pitchFamily="18" charset="0"/>
                <a:cs typeface="Times New Roman" panose="02020603050405020304" pitchFamily="18" charset="0"/>
              </a:rPr>
              <a:t>10</a:t>
            </a:r>
            <a:r>
              <a:rPr lang="en-IN" sz="1400" b="1" baseline="30000" dirty="0">
                <a:latin typeface="Times New Roman" panose="02020603050405020304" pitchFamily="18" charset="0"/>
                <a:cs typeface="Times New Roman" panose="02020603050405020304" pitchFamily="18" charset="0"/>
              </a:rPr>
              <a:t>th</a:t>
            </a:r>
            <a:r>
              <a:rPr lang="en-IN" sz="1400" b="1" dirty="0">
                <a:latin typeface="Times New Roman" panose="02020603050405020304" pitchFamily="18" charset="0"/>
                <a:cs typeface="Times New Roman" panose="02020603050405020304" pitchFamily="18" charset="0"/>
              </a:rPr>
              <a:t> MARCH, 2025</a:t>
            </a:r>
          </a:p>
        </p:txBody>
      </p:sp>
    </p:spTree>
    <p:extLst>
      <p:ext uri="{BB962C8B-B14F-4D97-AF65-F5344CB8AC3E}">
        <p14:creationId xmlns:p14="http://schemas.microsoft.com/office/powerpoint/2010/main" val="6672273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228725"/>
          </a:xfrm>
          <a:solidFill>
            <a:schemeClr val="accent2">
              <a:alpha val="36000"/>
            </a:schemeClr>
          </a:solidFill>
        </p:spPr>
        <p:txBody>
          <a:bodyPr>
            <a:normAutofit/>
          </a:bodyPr>
          <a:lstStyle/>
          <a:p>
            <a:pPr algn="ctr"/>
            <a:r>
              <a:rPr lang="en-US" sz="3600" b="1" dirty="0">
                <a:latin typeface="Times New Roman" panose="02020603050405020304" pitchFamily="18" charset="0"/>
                <a:cs typeface="Times New Roman" panose="02020603050405020304" pitchFamily="18" charset="0"/>
              </a:rPr>
              <a:t>BACKGROUND &amp; CONTEXT </a:t>
            </a:r>
            <a:endParaRPr lang="en-IN" sz="3600" b="1" dirty="0">
              <a:latin typeface="Times New Roman" panose="02020603050405020304" pitchFamily="18" charset="0"/>
              <a:cs typeface="Times New Roman" panose="02020603050405020304" pitchFamily="18" charset="0"/>
            </a:endParaRPr>
          </a:p>
        </p:txBody>
      </p:sp>
      <p:sp>
        <p:nvSpPr>
          <p:cNvPr id="4" name="Content Placeholder 2"/>
          <p:cNvSpPr>
            <a:spLocks noGrp="1"/>
          </p:cNvSpPr>
          <p:nvPr>
            <p:ph idx="1"/>
          </p:nvPr>
        </p:nvSpPr>
        <p:spPr>
          <a:xfrm>
            <a:off x="0" y="1228725"/>
            <a:ext cx="12192000" cy="5629275"/>
          </a:xfrm>
        </p:spPr>
        <p:txBody>
          <a:bodyPr/>
          <a:lstStyle/>
          <a:p>
            <a:r>
              <a:rPr lang="en-US" sz="3200" dirty="0">
                <a:latin typeface="Times New Roman" panose="02020603050405020304" pitchFamily="18" charset="0"/>
                <a:cs typeface="Times New Roman" panose="02020603050405020304" pitchFamily="18" charset="0"/>
              </a:rPr>
              <a:t>Key Definition: Generative Artificial Intelligence</a:t>
            </a:r>
          </a:p>
          <a:p>
            <a:pPr lvl="1"/>
            <a:r>
              <a:rPr lang="en-US" sz="2800" dirty="0">
                <a:latin typeface="Times New Roman" panose="02020603050405020304" pitchFamily="18" charset="0"/>
                <a:cs typeface="Times New Roman" panose="02020603050405020304" pitchFamily="18" charset="0"/>
              </a:rPr>
              <a:t>Generative AI, sometimes called gen AI, is artificial intelligence (AI) that can create original content—such as text, images, video, audio or software code—in response to a user’s prompt or request.</a:t>
            </a:r>
          </a:p>
          <a:p>
            <a:r>
              <a:rPr lang="en-US" sz="3200" dirty="0">
                <a:latin typeface="Times New Roman" panose="02020603050405020304" pitchFamily="18" charset="0"/>
                <a:cs typeface="Times New Roman" panose="02020603050405020304" pitchFamily="18" charset="0"/>
              </a:rPr>
              <a:t>Assessment of attitude towards gen AI tools is important for a multitude of reasons:</a:t>
            </a:r>
          </a:p>
          <a:p>
            <a:pPr lvl="1"/>
            <a:r>
              <a:rPr lang="en-US" sz="2800" dirty="0">
                <a:latin typeface="Times New Roman" panose="02020603050405020304" pitchFamily="18" charset="0"/>
                <a:cs typeface="Times New Roman" panose="02020603050405020304" pitchFamily="18" charset="0"/>
              </a:rPr>
              <a:t>Evaluation of ethical concern.</a:t>
            </a:r>
          </a:p>
          <a:p>
            <a:pPr lvl="1"/>
            <a:r>
              <a:rPr lang="en-US" sz="2800" dirty="0">
                <a:latin typeface="Times New Roman" panose="02020603050405020304" pitchFamily="18" charset="0"/>
                <a:cs typeface="Times New Roman" panose="02020603050405020304" pitchFamily="18" charset="0"/>
              </a:rPr>
              <a:t>Assessment of adoption level of the technology.</a:t>
            </a:r>
            <a:endParaRPr lang="en-IN" sz="2800" dirty="0">
              <a:latin typeface="Times New Roman" panose="02020603050405020304" pitchFamily="18" charset="0"/>
              <a:cs typeface="Times New Roman" panose="02020603050405020304" pitchFamily="18" charset="0"/>
            </a:endParaRPr>
          </a:p>
          <a:p>
            <a:pPr lvl="1"/>
            <a:r>
              <a:rPr lang="en-IN" sz="2800" dirty="0">
                <a:latin typeface="Times New Roman" panose="02020603050405020304" pitchFamily="18" charset="0"/>
                <a:cs typeface="Times New Roman" panose="02020603050405020304" pitchFamily="18" charset="0"/>
              </a:rPr>
              <a:t>Identification of potential areas of further development.</a:t>
            </a:r>
            <a:endParaRPr lang="en-US" sz="2800" dirty="0">
              <a:latin typeface="Times New Roman" panose="02020603050405020304" pitchFamily="18" charset="0"/>
              <a:cs typeface="Times New Roman" panose="02020603050405020304" pitchFamily="18" charset="0"/>
            </a:endParaRPr>
          </a:p>
        </p:txBody>
      </p:sp>
      <p:sp>
        <p:nvSpPr>
          <p:cNvPr id="5" name="Footer Placeholder 9"/>
          <p:cNvSpPr>
            <a:spLocks noGrp="1"/>
          </p:cNvSpPr>
          <p:nvPr>
            <p:ph type="ftr" sz="quarter" idx="11"/>
          </p:nvPr>
        </p:nvSpPr>
        <p:spPr>
          <a:xfrm>
            <a:off x="0" y="6265862"/>
            <a:ext cx="12192000" cy="592138"/>
          </a:xfrm>
          <a:gradFill flip="none" rotWithShape="1">
            <a:gsLst>
              <a:gs pos="0">
                <a:schemeClr val="accent2">
                  <a:lumMod val="0"/>
                  <a:lumOff val="100000"/>
                </a:schemeClr>
              </a:gs>
              <a:gs pos="9000">
                <a:schemeClr val="accent2">
                  <a:lumMod val="92000"/>
                  <a:lumOff val="8000"/>
                  <a:alpha val="94000"/>
                </a:schemeClr>
              </a:gs>
              <a:gs pos="100000">
                <a:schemeClr val="accent2">
                  <a:lumMod val="60000"/>
                </a:schemeClr>
              </a:gs>
            </a:gsLst>
            <a:path path="circle">
              <a:fillToRect l="50000" t="130000" r="50000" b="-30000"/>
            </a:path>
            <a:tileRect/>
          </a:gradFill>
        </p:spPr>
        <p:txBody>
          <a:bodyPr/>
          <a:lstStyle/>
          <a:p>
            <a:r>
              <a:rPr lang="en-IN" b="1" dirty="0">
                <a:solidFill>
                  <a:schemeClr val="tx1"/>
                </a:solidFill>
                <a:latin typeface="Times New Roman" panose="02020603050405020304" pitchFamily="18" charset="0"/>
                <a:cs typeface="Times New Roman" panose="02020603050405020304" pitchFamily="18" charset="0"/>
              </a:rPr>
              <a:t>INTERNATIONAL CONFERENCE ON CURRENT TRENDS IN INFORMATION TECHNOLOGY (ICCTIT-2025)</a:t>
            </a:r>
            <a:endParaRPr lang="en-IN" dirty="0">
              <a:solidFill>
                <a:schemeClr val="tx1"/>
              </a:solidFill>
            </a:endParaRPr>
          </a:p>
        </p:txBody>
      </p:sp>
      <p:sp>
        <p:nvSpPr>
          <p:cNvPr id="6" name="Slide Number Placeholder 5"/>
          <p:cNvSpPr>
            <a:spLocks noGrp="1"/>
          </p:cNvSpPr>
          <p:nvPr>
            <p:ph type="sldNum" sz="quarter" idx="12"/>
          </p:nvPr>
        </p:nvSpPr>
        <p:spPr/>
        <p:txBody>
          <a:bodyPr/>
          <a:lstStyle/>
          <a:p>
            <a:fld id="{069A66BF-523A-4823-845B-291A06923E4B}" type="slidenum">
              <a:rPr lang="en-IN" smtClean="0">
                <a:solidFill>
                  <a:schemeClr val="tx1"/>
                </a:solidFill>
              </a:rPr>
              <a:t>3</a:t>
            </a:fld>
            <a:endParaRPr lang="en-IN" dirty="0">
              <a:solidFill>
                <a:schemeClr val="tx1"/>
              </a:solidFill>
            </a:endParaRPr>
          </a:p>
        </p:txBody>
      </p:sp>
      <p:sp>
        <p:nvSpPr>
          <p:cNvPr id="7" name="Rectangle 6"/>
          <p:cNvSpPr/>
          <p:nvPr/>
        </p:nvSpPr>
        <p:spPr>
          <a:xfrm>
            <a:off x="-1" y="6300321"/>
            <a:ext cx="1664238" cy="523220"/>
          </a:xfrm>
          <a:prstGeom prst="rect">
            <a:avLst/>
          </a:prstGeom>
        </p:spPr>
        <p:txBody>
          <a:bodyPr wrap="none">
            <a:spAutoFit/>
          </a:bodyPr>
          <a:lstStyle/>
          <a:p>
            <a:pPr algn="ctr"/>
            <a:r>
              <a:rPr lang="en-US" sz="1400" b="1" dirty="0">
                <a:latin typeface="Times New Roman" panose="02020603050405020304" pitchFamily="18" charset="0"/>
                <a:cs typeface="Times New Roman" panose="02020603050405020304" pitchFamily="18" charset="0"/>
              </a:rPr>
              <a:t>Date:</a:t>
            </a:r>
            <a:endParaRPr lang="en-IN" sz="1400" b="1" dirty="0">
              <a:latin typeface="Times New Roman" panose="02020603050405020304" pitchFamily="18" charset="0"/>
              <a:cs typeface="Times New Roman" panose="02020603050405020304" pitchFamily="18" charset="0"/>
            </a:endParaRPr>
          </a:p>
          <a:p>
            <a:r>
              <a:rPr lang="en-IN" sz="1400" b="1" dirty="0">
                <a:latin typeface="Times New Roman" panose="02020603050405020304" pitchFamily="18" charset="0"/>
                <a:cs typeface="Times New Roman" panose="02020603050405020304" pitchFamily="18" charset="0"/>
              </a:rPr>
              <a:t>10</a:t>
            </a:r>
            <a:r>
              <a:rPr lang="en-IN" sz="1400" b="1" baseline="30000" dirty="0">
                <a:latin typeface="Times New Roman" panose="02020603050405020304" pitchFamily="18" charset="0"/>
                <a:cs typeface="Times New Roman" panose="02020603050405020304" pitchFamily="18" charset="0"/>
              </a:rPr>
              <a:t>th</a:t>
            </a:r>
            <a:r>
              <a:rPr lang="en-IN" sz="1400" b="1" dirty="0">
                <a:latin typeface="Times New Roman" panose="02020603050405020304" pitchFamily="18" charset="0"/>
                <a:cs typeface="Times New Roman" panose="02020603050405020304" pitchFamily="18" charset="0"/>
              </a:rPr>
              <a:t> MARCH, 2025</a:t>
            </a:r>
          </a:p>
        </p:txBody>
      </p:sp>
    </p:spTree>
    <p:extLst>
      <p:ext uri="{BB962C8B-B14F-4D97-AF65-F5344CB8AC3E}">
        <p14:creationId xmlns:p14="http://schemas.microsoft.com/office/powerpoint/2010/main" val="41222523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228725"/>
          </a:xfrm>
          <a:solidFill>
            <a:schemeClr val="accent2">
              <a:alpha val="36000"/>
            </a:schemeClr>
          </a:solidFill>
        </p:spPr>
        <p:txBody>
          <a:bodyPr>
            <a:normAutofit/>
          </a:bodyPr>
          <a:lstStyle/>
          <a:p>
            <a:pPr algn="ctr"/>
            <a:r>
              <a:rPr lang="en-US" sz="3600" b="1" dirty="0">
                <a:latin typeface="Times New Roman" panose="02020603050405020304" pitchFamily="18" charset="0"/>
                <a:cs typeface="Times New Roman" panose="02020603050405020304" pitchFamily="18" charset="0"/>
              </a:rPr>
              <a:t>PROBLEM STATEMENT</a:t>
            </a:r>
            <a:endParaRPr lang="en-IN" sz="3600" b="1" dirty="0">
              <a:latin typeface="Times New Roman" panose="02020603050405020304" pitchFamily="18" charset="0"/>
              <a:cs typeface="Times New Roman" panose="02020603050405020304" pitchFamily="18" charset="0"/>
            </a:endParaRPr>
          </a:p>
        </p:txBody>
      </p:sp>
      <p:sp>
        <p:nvSpPr>
          <p:cNvPr id="4" name="Content Placeholder 2"/>
          <p:cNvSpPr>
            <a:spLocks noGrp="1"/>
          </p:cNvSpPr>
          <p:nvPr>
            <p:ph idx="1"/>
          </p:nvPr>
        </p:nvSpPr>
        <p:spPr>
          <a:xfrm>
            <a:off x="0" y="1228725"/>
            <a:ext cx="12306300" cy="5629275"/>
          </a:xfrm>
        </p:spPr>
        <p:txBody>
          <a:bodyPr/>
          <a:lstStyle/>
          <a:p>
            <a:r>
              <a:rPr lang="en-US" sz="3200" dirty="0">
                <a:latin typeface="Times New Roman" panose="02020603050405020304" pitchFamily="18" charset="0"/>
                <a:cs typeface="Times New Roman" panose="02020603050405020304" pitchFamily="18" charset="0"/>
              </a:rPr>
              <a:t>Any task that takes input in words and produces output in either words, images or other multimedia can now be automated by any person with an internet connection and a browser. </a:t>
            </a:r>
          </a:p>
          <a:p>
            <a:r>
              <a:rPr lang="en-US" sz="3200" dirty="0">
                <a:latin typeface="Times New Roman" panose="02020603050405020304" pitchFamily="18" charset="0"/>
                <a:cs typeface="Times New Roman" panose="02020603050405020304" pitchFamily="18" charset="0"/>
              </a:rPr>
              <a:t>In light of this, this research paper seeks to examine how such tools are used as well as what opinions people hold, with respect to the urban upper middle-class residents of Bengaluru, India.</a:t>
            </a:r>
          </a:p>
          <a:p>
            <a:r>
              <a:rPr lang="en-US" sz="3200" dirty="0">
                <a:latin typeface="Times New Roman" panose="02020603050405020304" pitchFamily="18" charset="0"/>
                <a:cs typeface="Times New Roman" panose="02020603050405020304" pitchFamily="18" charset="0"/>
              </a:rPr>
              <a:t>This paper also seeks to understand the awareness about and opinions regarding the environmental impact of AI and biases that arise during training of AI models.</a:t>
            </a:r>
          </a:p>
        </p:txBody>
      </p:sp>
      <p:sp>
        <p:nvSpPr>
          <p:cNvPr id="5" name="Footer Placeholder 9"/>
          <p:cNvSpPr>
            <a:spLocks noGrp="1"/>
          </p:cNvSpPr>
          <p:nvPr>
            <p:ph type="ftr" sz="quarter" idx="11"/>
          </p:nvPr>
        </p:nvSpPr>
        <p:spPr>
          <a:xfrm>
            <a:off x="0" y="6265862"/>
            <a:ext cx="12192000" cy="592138"/>
          </a:xfrm>
          <a:gradFill flip="none" rotWithShape="1">
            <a:gsLst>
              <a:gs pos="0">
                <a:schemeClr val="accent2">
                  <a:lumMod val="0"/>
                  <a:lumOff val="100000"/>
                </a:schemeClr>
              </a:gs>
              <a:gs pos="9000">
                <a:schemeClr val="accent2">
                  <a:lumMod val="92000"/>
                  <a:lumOff val="8000"/>
                  <a:alpha val="94000"/>
                </a:schemeClr>
              </a:gs>
              <a:gs pos="100000">
                <a:schemeClr val="accent2">
                  <a:lumMod val="60000"/>
                </a:schemeClr>
              </a:gs>
            </a:gsLst>
            <a:path path="circle">
              <a:fillToRect l="50000" t="130000" r="50000" b="-30000"/>
            </a:path>
            <a:tileRect/>
          </a:gradFill>
        </p:spPr>
        <p:txBody>
          <a:bodyPr/>
          <a:lstStyle/>
          <a:p>
            <a:r>
              <a:rPr lang="en-IN" b="1" dirty="0">
                <a:solidFill>
                  <a:schemeClr val="tx1"/>
                </a:solidFill>
                <a:latin typeface="Times New Roman" panose="02020603050405020304" pitchFamily="18" charset="0"/>
                <a:cs typeface="Times New Roman" panose="02020603050405020304" pitchFamily="18" charset="0"/>
              </a:rPr>
              <a:t>INTERNATIONAL CONFERENCE ON CURRENT TRENDS IN INFORMATION TECHNOLOGY (ICCTIT-2025)</a:t>
            </a:r>
            <a:endParaRPr lang="en-IN" dirty="0">
              <a:solidFill>
                <a:schemeClr val="tx1"/>
              </a:solidFill>
            </a:endParaRPr>
          </a:p>
        </p:txBody>
      </p:sp>
      <p:sp>
        <p:nvSpPr>
          <p:cNvPr id="3" name="Slide Number Placeholder 2"/>
          <p:cNvSpPr>
            <a:spLocks noGrp="1"/>
          </p:cNvSpPr>
          <p:nvPr>
            <p:ph type="sldNum" sz="quarter" idx="12"/>
          </p:nvPr>
        </p:nvSpPr>
        <p:spPr/>
        <p:txBody>
          <a:bodyPr/>
          <a:lstStyle/>
          <a:p>
            <a:fld id="{069A66BF-523A-4823-845B-291A06923E4B}" type="slidenum">
              <a:rPr lang="en-IN" smtClean="0">
                <a:solidFill>
                  <a:schemeClr val="tx1"/>
                </a:solidFill>
              </a:rPr>
              <a:t>4</a:t>
            </a:fld>
            <a:endParaRPr lang="en-IN" dirty="0">
              <a:solidFill>
                <a:schemeClr val="tx1"/>
              </a:solidFill>
            </a:endParaRPr>
          </a:p>
        </p:txBody>
      </p:sp>
      <p:sp>
        <p:nvSpPr>
          <p:cNvPr id="6" name="Rectangle 5"/>
          <p:cNvSpPr/>
          <p:nvPr/>
        </p:nvSpPr>
        <p:spPr>
          <a:xfrm>
            <a:off x="-1" y="6300321"/>
            <a:ext cx="1664238" cy="523220"/>
          </a:xfrm>
          <a:prstGeom prst="rect">
            <a:avLst/>
          </a:prstGeom>
        </p:spPr>
        <p:txBody>
          <a:bodyPr wrap="none">
            <a:spAutoFit/>
          </a:bodyPr>
          <a:lstStyle/>
          <a:p>
            <a:pPr algn="ctr"/>
            <a:r>
              <a:rPr lang="en-US" sz="1400" b="1" dirty="0">
                <a:latin typeface="Times New Roman" panose="02020603050405020304" pitchFamily="18" charset="0"/>
                <a:cs typeface="Times New Roman" panose="02020603050405020304" pitchFamily="18" charset="0"/>
              </a:rPr>
              <a:t>Date:</a:t>
            </a:r>
            <a:endParaRPr lang="en-IN" sz="1400" b="1" dirty="0">
              <a:latin typeface="Times New Roman" panose="02020603050405020304" pitchFamily="18" charset="0"/>
              <a:cs typeface="Times New Roman" panose="02020603050405020304" pitchFamily="18" charset="0"/>
            </a:endParaRPr>
          </a:p>
          <a:p>
            <a:r>
              <a:rPr lang="en-IN" sz="1400" b="1" dirty="0">
                <a:latin typeface="Times New Roman" panose="02020603050405020304" pitchFamily="18" charset="0"/>
                <a:cs typeface="Times New Roman" panose="02020603050405020304" pitchFamily="18" charset="0"/>
              </a:rPr>
              <a:t>10</a:t>
            </a:r>
            <a:r>
              <a:rPr lang="en-IN" sz="1400" b="1" baseline="30000" dirty="0">
                <a:latin typeface="Times New Roman" panose="02020603050405020304" pitchFamily="18" charset="0"/>
                <a:cs typeface="Times New Roman" panose="02020603050405020304" pitchFamily="18" charset="0"/>
              </a:rPr>
              <a:t>th</a:t>
            </a:r>
            <a:r>
              <a:rPr lang="en-IN" sz="1400" b="1" dirty="0">
                <a:latin typeface="Times New Roman" panose="02020603050405020304" pitchFamily="18" charset="0"/>
                <a:cs typeface="Times New Roman" panose="02020603050405020304" pitchFamily="18" charset="0"/>
              </a:rPr>
              <a:t> MARCH, 2025</a:t>
            </a:r>
          </a:p>
        </p:txBody>
      </p:sp>
    </p:spTree>
    <p:extLst>
      <p:ext uri="{BB962C8B-B14F-4D97-AF65-F5344CB8AC3E}">
        <p14:creationId xmlns:p14="http://schemas.microsoft.com/office/powerpoint/2010/main" val="38753642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228725"/>
          </a:xfrm>
          <a:solidFill>
            <a:schemeClr val="accent2">
              <a:alpha val="36000"/>
            </a:schemeClr>
          </a:solidFill>
        </p:spPr>
        <p:txBody>
          <a:bodyPr>
            <a:normAutofit/>
          </a:bodyPr>
          <a:lstStyle/>
          <a:p>
            <a:pPr algn="ctr"/>
            <a:r>
              <a:rPr lang="en-US" sz="3600" b="1" dirty="0">
                <a:latin typeface="Times New Roman" panose="02020603050405020304" pitchFamily="18" charset="0"/>
                <a:cs typeface="Times New Roman" panose="02020603050405020304" pitchFamily="18" charset="0"/>
              </a:rPr>
              <a:t>METHODOLOGY</a:t>
            </a:r>
            <a:endParaRPr lang="en-IN" sz="3600" b="1" dirty="0">
              <a:latin typeface="Times New Roman" panose="02020603050405020304" pitchFamily="18" charset="0"/>
              <a:cs typeface="Times New Roman" panose="02020603050405020304" pitchFamily="18" charset="0"/>
            </a:endParaRPr>
          </a:p>
        </p:txBody>
      </p:sp>
      <p:sp>
        <p:nvSpPr>
          <p:cNvPr id="4" name="Content Placeholder 2"/>
          <p:cNvSpPr>
            <a:spLocks noGrp="1"/>
          </p:cNvSpPr>
          <p:nvPr>
            <p:ph idx="1"/>
          </p:nvPr>
        </p:nvSpPr>
        <p:spPr>
          <a:xfrm>
            <a:off x="0" y="1228725"/>
            <a:ext cx="12306300" cy="5629275"/>
          </a:xfrm>
        </p:spPr>
        <p:txBody>
          <a:bodyPr/>
          <a:lstStyle/>
          <a:p>
            <a:r>
              <a:rPr lang="en-US" sz="3200" dirty="0">
                <a:latin typeface="Times New Roman" panose="02020603050405020304" pitchFamily="18" charset="0"/>
                <a:cs typeface="Times New Roman" panose="02020603050405020304" pitchFamily="18" charset="0"/>
              </a:rPr>
              <a:t>A qualitative survey was created and sent to urban upper middle class Bengaluru residents. A total of 76 responses were received, and 74 responses were used after data cleaning. </a:t>
            </a:r>
          </a:p>
          <a:p>
            <a:r>
              <a:rPr lang="en-US" sz="3200" dirty="0">
                <a:latin typeface="Times New Roman" panose="02020603050405020304" pitchFamily="18" charset="0"/>
                <a:cs typeface="Times New Roman" panose="02020603050405020304" pitchFamily="18" charset="0"/>
              </a:rPr>
              <a:t>The questionnaire obtained demographic information, and ratings on a 5-point </a:t>
            </a:r>
            <a:r>
              <a:rPr lang="en-US" sz="3200" dirty="0" err="1">
                <a:latin typeface="Times New Roman" panose="02020603050405020304" pitchFamily="18" charset="0"/>
                <a:cs typeface="Times New Roman" panose="02020603050405020304" pitchFamily="18" charset="0"/>
              </a:rPr>
              <a:t>likert</a:t>
            </a:r>
            <a:r>
              <a:rPr lang="en-US" sz="3200" dirty="0">
                <a:latin typeface="Times New Roman" panose="02020603050405020304" pitchFamily="18" charset="0"/>
                <a:cs typeface="Times New Roman" panose="02020603050405020304" pitchFamily="18" charset="0"/>
              </a:rPr>
              <a:t> scale to obtain data on attitudes of the respondents. </a:t>
            </a:r>
            <a:endParaRPr lang="en-IN" sz="3200" dirty="0">
              <a:latin typeface="Arial" panose="020B0604020202020204" pitchFamily="34" charset="0"/>
              <a:cs typeface="Arial" panose="020B0604020202020204" pitchFamily="34" charset="0"/>
            </a:endParaRPr>
          </a:p>
          <a:p>
            <a:r>
              <a:rPr lang="en-US" sz="3200" dirty="0">
                <a:latin typeface="Times New Roman" panose="02020603050405020304" pitchFamily="18" charset="0"/>
                <a:cs typeface="Times New Roman" panose="02020603050405020304" pitchFamily="18" charset="0"/>
              </a:rPr>
              <a:t>Information was obtained about Effort Expectancy, Performance Expectancy, Social Influence, Perceived Social Impact, Ease of Use, Trust, Ethical Considerations and Efficiency.</a:t>
            </a:r>
          </a:p>
          <a:p>
            <a:r>
              <a:rPr lang="en-US" sz="3200" dirty="0">
                <a:latin typeface="Times New Roman" panose="02020603050405020304" pitchFamily="18" charset="0"/>
                <a:cs typeface="Times New Roman" panose="02020603050405020304" pitchFamily="18" charset="0"/>
              </a:rPr>
              <a:t>Ethical Considerations: combination of bias awareness and environmental impact.</a:t>
            </a:r>
          </a:p>
        </p:txBody>
      </p:sp>
      <p:sp>
        <p:nvSpPr>
          <p:cNvPr id="5" name="Footer Placeholder 9"/>
          <p:cNvSpPr>
            <a:spLocks noGrp="1"/>
          </p:cNvSpPr>
          <p:nvPr>
            <p:ph type="ftr" sz="quarter" idx="11"/>
          </p:nvPr>
        </p:nvSpPr>
        <p:spPr>
          <a:xfrm>
            <a:off x="0" y="6265862"/>
            <a:ext cx="12192000" cy="592138"/>
          </a:xfrm>
          <a:gradFill flip="none" rotWithShape="1">
            <a:gsLst>
              <a:gs pos="0">
                <a:schemeClr val="accent2">
                  <a:lumMod val="0"/>
                  <a:lumOff val="100000"/>
                </a:schemeClr>
              </a:gs>
              <a:gs pos="9000">
                <a:schemeClr val="accent2">
                  <a:lumMod val="92000"/>
                  <a:lumOff val="8000"/>
                  <a:alpha val="94000"/>
                </a:schemeClr>
              </a:gs>
              <a:gs pos="100000">
                <a:schemeClr val="accent2">
                  <a:lumMod val="60000"/>
                </a:schemeClr>
              </a:gs>
            </a:gsLst>
            <a:path path="circle">
              <a:fillToRect l="50000" t="130000" r="50000" b="-30000"/>
            </a:path>
            <a:tileRect/>
          </a:gradFill>
        </p:spPr>
        <p:txBody>
          <a:bodyPr/>
          <a:lstStyle/>
          <a:p>
            <a:r>
              <a:rPr lang="en-IN" b="1" dirty="0">
                <a:solidFill>
                  <a:schemeClr val="tx1"/>
                </a:solidFill>
                <a:latin typeface="Times New Roman" panose="02020603050405020304" pitchFamily="18" charset="0"/>
                <a:cs typeface="Times New Roman" panose="02020603050405020304" pitchFamily="18" charset="0"/>
              </a:rPr>
              <a:t>INTERNATIONAL CONFERENCE ON CURRENT TRENDS IN INFORMATION TECHNOLOGY (ICCTIT-2025)</a:t>
            </a:r>
            <a:endParaRPr lang="en-IN" dirty="0">
              <a:solidFill>
                <a:schemeClr val="tx1"/>
              </a:solidFill>
            </a:endParaRPr>
          </a:p>
        </p:txBody>
      </p:sp>
      <p:sp>
        <p:nvSpPr>
          <p:cNvPr id="3" name="Slide Number Placeholder 2"/>
          <p:cNvSpPr>
            <a:spLocks noGrp="1"/>
          </p:cNvSpPr>
          <p:nvPr>
            <p:ph type="sldNum" sz="quarter" idx="12"/>
          </p:nvPr>
        </p:nvSpPr>
        <p:spPr/>
        <p:txBody>
          <a:bodyPr/>
          <a:lstStyle/>
          <a:p>
            <a:fld id="{069A66BF-523A-4823-845B-291A06923E4B}" type="slidenum">
              <a:rPr lang="en-IN" smtClean="0">
                <a:solidFill>
                  <a:schemeClr val="tx1"/>
                </a:solidFill>
              </a:rPr>
              <a:t>5</a:t>
            </a:fld>
            <a:endParaRPr lang="en-IN" dirty="0">
              <a:solidFill>
                <a:schemeClr val="tx1"/>
              </a:solidFill>
            </a:endParaRPr>
          </a:p>
        </p:txBody>
      </p:sp>
      <p:sp>
        <p:nvSpPr>
          <p:cNvPr id="6" name="Rectangle 5"/>
          <p:cNvSpPr/>
          <p:nvPr/>
        </p:nvSpPr>
        <p:spPr>
          <a:xfrm>
            <a:off x="-1" y="6300321"/>
            <a:ext cx="1664238" cy="523220"/>
          </a:xfrm>
          <a:prstGeom prst="rect">
            <a:avLst/>
          </a:prstGeom>
        </p:spPr>
        <p:txBody>
          <a:bodyPr wrap="none">
            <a:spAutoFit/>
          </a:bodyPr>
          <a:lstStyle/>
          <a:p>
            <a:pPr algn="ctr"/>
            <a:r>
              <a:rPr lang="en-US" sz="1400" b="1" dirty="0">
                <a:latin typeface="Times New Roman" panose="02020603050405020304" pitchFamily="18" charset="0"/>
                <a:cs typeface="Times New Roman" panose="02020603050405020304" pitchFamily="18" charset="0"/>
              </a:rPr>
              <a:t>Date:</a:t>
            </a:r>
            <a:endParaRPr lang="en-IN" sz="1400" b="1" dirty="0">
              <a:latin typeface="Times New Roman" panose="02020603050405020304" pitchFamily="18" charset="0"/>
              <a:cs typeface="Times New Roman" panose="02020603050405020304" pitchFamily="18" charset="0"/>
            </a:endParaRPr>
          </a:p>
          <a:p>
            <a:r>
              <a:rPr lang="en-IN" sz="1400" b="1" dirty="0">
                <a:latin typeface="Times New Roman" panose="02020603050405020304" pitchFamily="18" charset="0"/>
                <a:cs typeface="Times New Roman" panose="02020603050405020304" pitchFamily="18" charset="0"/>
              </a:rPr>
              <a:t>10</a:t>
            </a:r>
            <a:r>
              <a:rPr lang="en-IN" sz="1400" b="1" baseline="30000" dirty="0">
                <a:latin typeface="Times New Roman" panose="02020603050405020304" pitchFamily="18" charset="0"/>
                <a:cs typeface="Times New Roman" panose="02020603050405020304" pitchFamily="18" charset="0"/>
              </a:rPr>
              <a:t>th</a:t>
            </a:r>
            <a:r>
              <a:rPr lang="en-IN" sz="1400" b="1" dirty="0">
                <a:latin typeface="Times New Roman" panose="02020603050405020304" pitchFamily="18" charset="0"/>
                <a:cs typeface="Times New Roman" panose="02020603050405020304" pitchFamily="18" charset="0"/>
              </a:rPr>
              <a:t> MARCH, 2025</a:t>
            </a:r>
          </a:p>
        </p:txBody>
      </p:sp>
    </p:spTree>
    <p:extLst>
      <p:ext uri="{BB962C8B-B14F-4D97-AF65-F5344CB8AC3E}">
        <p14:creationId xmlns:p14="http://schemas.microsoft.com/office/powerpoint/2010/main" val="42515404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228725"/>
          </a:xfrm>
          <a:solidFill>
            <a:schemeClr val="accent2">
              <a:alpha val="36000"/>
            </a:schemeClr>
          </a:solidFill>
        </p:spPr>
        <p:txBody>
          <a:bodyPr>
            <a:normAutofit/>
          </a:bodyPr>
          <a:lstStyle/>
          <a:p>
            <a:pPr algn="ctr"/>
            <a:r>
              <a:rPr lang="en-US" sz="3600" b="1" dirty="0">
                <a:latin typeface="Times New Roman" panose="02020603050405020304" pitchFamily="18" charset="0"/>
                <a:cs typeface="Times New Roman" panose="02020603050405020304" pitchFamily="18" charset="0"/>
              </a:rPr>
              <a:t>METHODOLOGY</a:t>
            </a:r>
            <a:endParaRPr lang="en-IN" sz="3600" b="1" dirty="0">
              <a:latin typeface="Times New Roman" panose="02020603050405020304" pitchFamily="18" charset="0"/>
              <a:cs typeface="Times New Roman" panose="02020603050405020304" pitchFamily="18" charset="0"/>
            </a:endParaRPr>
          </a:p>
        </p:txBody>
      </p:sp>
      <p:sp>
        <p:nvSpPr>
          <p:cNvPr id="5" name="Footer Placeholder 9"/>
          <p:cNvSpPr>
            <a:spLocks noGrp="1"/>
          </p:cNvSpPr>
          <p:nvPr>
            <p:ph type="ftr" sz="quarter" idx="11"/>
          </p:nvPr>
        </p:nvSpPr>
        <p:spPr>
          <a:xfrm>
            <a:off x="0" y="6265862"/>
            <a:ext cx="12192000" cy="592138"/>
          </a:xfrm>
          <a:gradFill flip="none" rotWithShape="1">
            <a:gsLst>
              <a:gs pos="0">
                <a:schemeClr val="accent2">
                  <a:lumMod val="0"/>
                  <a:lumOff val="100000"/>
                </a:schemeClr>
              </a:gs>
              <a:gs pos="9000">
                <a:schemeClr val="accent2">
                  <a:lumMod val="92000"/>
                  <a:lumOff val="8000"/>
                  <a:alpha val="94000"/>
                </a:schemeClr>
              </a:gs>
              <a:gs pos="100000">
                <a:schemeClr val="accent2">
                  <a:lumMod val="60000"/>
                </a:schemeClr>
              </a:gs>
            </a:gsLst>
            <a:path path="circle">
              <a:fillToRect l="50000" t="130000" r="50000" b="-30000"/>
            </a:path>
            <a:tileRect/>
          </a:gradFill>
        </p:spPr>
        <p:txBody>
          <a:bodyPr/>
          <a:lstStyle/>
          <a:p>
            <a:r>
              <a:rPr lang="en-IN" b="1" dirty="0">
                <a:solidFill>
                  <a:schemeClr val="tx1"/>
                </a:solidFill>
                <a:latin typeface="Times New Roman" panose="02020603050405020304" pitchFamily="18" charset="0"/>
                <a:cs typeface="Times New Roman" panose="02020603050405020304" pitchFamily="18" charset="0"/>
              </a:rPr>
              <a:t>INTERNATIONAL CONFERENCE ON CURRENT TRENDS IN INFORMATION TECHNOLOGY (ICCTIT-2025)</a:t>
            </a:r>
            <a:endParaRPr lang="en-IN" dirty="0">
              <a:solidFill>
                <a:schemeClr val="tx1"/>
              </a:solidFill>
            </a:endParaRPr>
          </a:p>
        </p:txBody>
      </p:sp>
      <p:sp>
        <p:nvSpPr>
          <p:cNvPr id="6" name="Content Placeholder 2"/>
          <p:cNvSpPr>
            <a:spLocks noGrp="1"/>
          </p:cNvSpPr>
          <p:nvPr>
            <p:ph idx="1"/>
          </p:nvPr>
        </p:nvSpPr>
        <p:spPr>
          <a:xfrm>
            <a:off x="0" y="1226502"/>
            <a:ext cx="12192000" cy="5039360"/>
          </a:xfrm>
        </p:spPr>
        <p:txBody>
          <a:bodyPr/>
          <a:lstStyle/>
          <a:p>
            <a:endParaRPr lang="en-US" sz="3200" dirty="0">
              <a:latin typeface="Times New Roman" panose="02020603050405020304" pitchFamily="18" charset="0"/>
              <a:cs typeface="Times New Roman" panose="02020603050405020304" pitchFamily="18" charset="0"/>
            </a:endParaRPr>
          </a:p>
          <a:p>
            <a:r>
              <a:rPr lang="en-US" sz="3200" dirty="0">
                <a:latin typeface="Times New Roman" panose="02020603050405020304" pitchFamily="18" charset="0"/>
                <a:cs typeface="Times New Roman" panose="02020603050405020304" pitchFamily="18" charset="0"/>
              </a:rPr>
              <a:t>After exploratory data analysis, study was done on three primary verticals:</a:t>
            </a:r>
          </a:p>
          <a:p>
            <a:pPr lvl="1"/>
            <a:r>
              <a:rPr lang="en-US" sz="2800" dirty="0">
                <a:latin typeface="Times New Roman" panose="02020603050405020304" pitchFamily="18" charset="0"/>
                <a:cs typeface="Times New Roman" panose="02020603050405020304" pitchFamily="18" charset="0"/>
              </a:rPr>
              <a:t>Factors under study against gender (independent t-test)</a:t>
            </a:r>
          </a:p>
          <a:p>
            <a:pPr lvl="1"/>
            <a:r>
              <a:rPr lang="en-US" sz="2800" dirty="0">
                <a:latin typeface="Times New Roman" panose="02020603050405020304" pitchFamily="18" charset="0"/>
                <a:cs typeface="Times New Roman" panose="02020603050405020304" pitchFamily="18" charset="0"/>
              </a:rPr>
              <a:t>Factors under study against age group (one-way ANOVA)</a:t>
            </a:r>
          </a:p>
          <a:p>
            <a:pPr lvl="1"/>
            <a:r>
              <a:rPr lang="en-US" sz="2800" dirty="0">
                <a:latin typeface="Times New Roman" panose="02020603050405020304" pitchFamily="18" charset="0"/>
                <a:cs typeface="Times New Roman" panose="02020603050405020304" pitchFamily="18" charset="0"/>
              </a:rPr>
              <a:t>Logistic regression model using factors under study to predict frequency of usage of gen AI tools by a user.</a:t>
            </a:r>
          </a:p>
          <a:p>
            <a:r>
              <a:rPr lang="en-US" sz="3200" dirty="0">
                <a:latin typeface="Times New Roman" panose="02020603050405020304" pitchFamily="18" charset="0"/>
                <a:cs typeface="Times New Roman" panose="02020603050405020304" pitchFamily="18" charset="0"/>
              </a:rPr>
              <a:t>Hypotheses and factor-specific p-values have been excluded from this presentation for conciseness. </a:t>
            </a:r>
          </a:p>
        </p:txBody>
      </p:sp>
      <p:sp>
        <p:nvSpPr>
          <p:cNvPr id="7" name="Slide Number Placeholder 6"/>
          <p:cNvSpPr>
            <a:spLocks noGrp="1"/>
          </p:cNvSpPr>
          <p:nvPr>
            <p:ph type="sldNum" sz="quarter" idx="12"/>
          </p:nvPr>
        </p:nvSpPr>
        <p:spPr/>
        <p:txBody>
          <a:bodyPr/>
          <a:lstStyle/>
          <a:p>
            <a:fld id="{069A66BF-523A-4823-845B-291A06923E4B}" type="slidenum">
              <a:rPr lang="en-IN" smtClean="0">
                <a:solidFill>
                  <a:schemeClr val="tx1"/>
                </a:solidFill>
              </a:rPr>
              <a:t>6</a:t>
            </a:fld>
            <a:endParaRPr lang="en-IN" dirty="0">
              <a:solidFill>
                <a:schemeClr val="tx1"/>
              </a:solidFill>
            </a:endParaRPr>
          </a:p>
        </p:txBody>
      </p:sp>
      <p:sp>
        <p:nvSpPr>
          <p:cNvPr id="8" name="Rectangle 7"/>
          <p:cNvSpPr/>
          <p:nvPr/>
        </p:nvSpPr>
        <p:spPr>
          <a:xfrm>
            <a:off x="-1" y="6300321"/>
            <a:ext cx="1664238" cy="523220"/>
          </a:xfrm>
          <a:prstGeom prst="rect">
            <a:avLst/>
          </a:prstGeom>
        </p:spPr>
        <p:txBody>
          <a:bodyPr wrap="none">
            <a:spAutoFit/>
          </a:bodyPr>
          <a:lstStyle/>
          <a:p>
            <a:pPr algn="ctr"/>
            <a:r>
              <a:rPr lang="en-US" sz="1400" b="1" dirty="0">
                <a:latin typeface="Times New Roman" panose="02020603050405020304" pitchFamily="18" charset="0"/>
                <a:cs typeface="Times New Roman" panose="02020603050405020304" pitchFamily="18" charset="0"/>
              </a:rPr>
              <a:t>Date:</a:t>
            </a:r>
            <a:endParaRPr lang="en-IN" sz="1400" b="1" dirty="0">
              <a:latin typeface="Times New Roman" panose="02020603050405020304" pitchFamily="18" charset="0"/>
              <a:cs typeface="Times New Roman" panose="02020603050405020304" pitchFamily="18" charset="0"/>
            </a:endParaRPr>
          </a:p>
          <a:p>
            <a:r>
              <a:rPr lang="en-IN" sz="1400" b="1" dirty="0">
                <a:latin typeface="Times New Roman" panose="02020603050405020304" pitchFamily="18" charset="0"/>
                <a:cs typeface="Times New Roman" panose="02020603050405020304" pitchFamily="18" charset="0"/>
              </a:rPr>
              <a:t>10</a:t>
            </a:r>
            <a:r>
              <a:rPr lang="en-IN" sz="1400" b="1" baseline="30000" dirty="0">
                <a:latin typeface="Times New Roman" panose="02020603050405020304" pitchFamily="18" charset="0"/>
                <a:cs typeface="Times New Roman" panose="02020603050405020304" pitchFamily="18" charset="0"/>
              </a:rPr>
              <a:t>th</a:t>
            </a:r>
            <a:r>
              <a:rPr lang="en-IN" sz="1400" b="1" dirty="0">
                <a:latin typeface="Times New Roman" panose="02020603050405020304" pitchFamily="18" charset="0"/>
                <a:cs typeface="Times New Roman" panose="02020603050405020304" pitchFamily="18" charset="0"/>
              </a:rPr>
              <a:t> MARCH, 2025</a:t>
            </a:r>
          </a:p>
        </p:txBody>
      </p:sp>
    </p:spTree>
    <p:extLst>
      <p:ext uri="{BB962C8B-B14F-4D97-AF65-F5344CB8AC3E}">
        <p14:creationId xmlns:p14="http://schemas.microsoft.com/office/powerpoint/2010/main" val="4354312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228725"/>
          </a:xfrm>
          <a:solidFill>
            <a:schemeClr val="accent2">
              <a:alpha val="36000"/>
            </a:schemeClr>
          </a:solidFill>
        </p:spPr>
        <p:txBody>
          <a:bodyPr>
            <a:normAutofit/>
          </a:bodyPr>
          <a:lstStyle/>
          <a:p>
            <a:pPr algn="ctr"/>
            <a:r>
              <a:rPr lang="en-US" sz="3600" b="1" dirty="0">
                <a:latin typeface="Times New Roman" panose="02020603050405020304" pitchFamily="18" charset="0"/>
                <a:cs typeface="Times New Roman" panose="02020603050405020304" pitchFamily="18" charset="0"/>
              </a:rPr>
              <a:t>RESULTS AND DISCUSSION</a:t>
            </a:r>
            <a:endParaRPr lang="en-IN" sz="3600" b="1" dirty="0">
              <a:latin typeface="Times New Roman" panose="02020603050405020304" pitchFamily="18" charset="0"/>
              <a:cs typeface="Times New Roman" panose="02020603050405020304" pitchFamily="18" charset="0"/>
            </a:endParaRPr>
          </a:p>
        </p:txBody>
      </p:sp>
      <p:sp>
        <p:nvSpPr>
          <p:cNvPr id="5" name="Footer Placeholder 9"/>
          <p:cNvSpPr>
            <a:spLocks noGrp="1"/>
          </p:cNvSpPr>
          <p:nvPr>
            <p:ph type="ftr" sz="quarter" idx="11"/>
          </p:nvPr>
        </p:nvSpPr>
        <p:spPr>
          <a:xfrm>
            <a:off x="0" y="6265862"/>
            <a:ext cx="12192000" cy="592138"/>
          </a:xfrm>
          <a:gradFill flip="none" rotWithShape="1">
            <a:gsLst>
              <a:gs pos="0">
                <a:schemeClr val="accent2">
                  <a:lumMod val="0"/>
                  <a:lumOff val="100000"/>
                </a:schemeClr>
              </a:gs>
              <a:gs pos="9000">
                <a:schemeClr val="accent2">
                  <a:lumMod val="92000"/>
                  <a:lumOff val="8000"/>
                  <a:alpha val="94000"/>
                </a:schemeClr>
              </a:gs>
              <a:gs pos="100000">
                <a:schemeClr val="accent2">
                  <a:lumMod val="60000"/>
                </a:schemeClr>
              </a:gs>
            </a:gsLst>
            <a:path path="circle">
              <a:fillToRect l="50000" t="130000" r="50000" b="-30000"/>
            </a:path>
            <a:tileRect/>
          </a:gradFill>
        </p:spPr>
        <p:txBody>
          <a:bodyPr/>
          <a:lstStyle/>
          <a:p>
            <a:r>
              <a:rPr lang="en-IN" b="1" dirty="0">
                <a:solidFill>
                  <a:schemeClr val="tx1"/>
                </a:solidFill>
                <a:latin typeface="Times New Roman" panose="02020603050405020304" pitchFamily="18" charset="0"/>
                <a:cs typeface="Times New Roman" panose="02020603050405020304" pitchFamily="18" charset="0"/>
              </a:rPr>
              <a:t>INTERNATIONAL CONFERENCE ON CURRENT TRENDS IN INFORMATION TECHNOLOGY (ICCTIT-2025)</a:t>
            </a:r>
            <a:endParaRPr lang="en-IN" dirty="0">
              <a:solidFill>
                <a:schemeClr val="tx1"/>
              </a:solidFill>
            </a:endParaRPr>
          </a:p>
        </p:txBody>
      </p:sp>
      <p:sp>
        <p:nvSpPr>
          <p:cNvPr id="6" name="Content Placeholder 2"/>
          <p:cNvSpPr>
            <a:spLocks noGrp="1"/>
          </p:cNvSpPr>
          <p:nvPr>
            <p:ph idx="1"/>
          </p:nvPr>
        </p:nvSpPr>
        <p:spPr>
          <a:xfrm>
            <a:off x="0" y="1226502"/>
            <a:ext cx="12192000" cy="5039360"/>
          </a:xfrm>
        </p:spPr>
        <p:txBody>
          <a:bodyPr/>
          <a:lstStyle/>
          <a:p>
            <a:pPr marL="0" indent="0">
              <a:buNone/>
            </a:pPr>
            <a:endParaRPr lang="en-US" dirty="0">
              <a:latin typeface="Times New Roman" panose="02020603050405020304" pitchFamily="18" charset="0"/>
              <a:cs typeface="Times New Roman" panose="02020603050405020304" pitchFamily="18" charset="0"/>
            </a:endParaRPr>
          </a:p>
          <a:p>
            <a:endParaRPr lang="en-IN" sz="1800" b="1" dirty="0">
              <a:latin typeface="Times New Roman" panose="02020603050405020304" pitchFamily="18" charset="0"/>
              <a:cs typeface="Times New Roman" panose="02020603050405020304" pitchFamily="18" charset="0"/>
            </a:endParaRPr>
          </a:p>
        </p:txBody>
      </p:sp>
      <p:sp>
        <p:nvSpPr>
          <p:cNvPr id="7" name="Slide Number Placeholder 6"/>
          <p:cNvSpPr>
            <a:spLocks noGrp="1"/>
          </p:cNvSpPr>
          <p:nvPr>
            <p:ph type="sldNum" sz="quarter" idx="12"/>
          </p:nvPr>
        </p:nvSpPr>
        <p:spPr/>
        <p:txBody>
          <a:bodyPr/>
          <a:lstStyle/>
          <a:p>
            <a:fld id="{069A66BF-523A-4823-845B-291A06923E4B}" type="slidenum">
              <a:rPr lang="en-IN" smtClean="0">
                <a:solidFill>
                  <a:schemeClr val="tx1"/>
                </a:solidFill>
              </a:rPr>
              <a:t>7</a:t>
            </a:fld>
            <a:endParaRPr lang="en-IN" dirty="0">
              <a:solidFill>
                <a:schemeClr val="tx1"/>
              </a:solidFill>
            </a:endParaRPr>
          </a:p>
        </p:txBody>
      </p:sp>
      <p:sp>
        <p:nvSpPr>
          <p:cNvPr id="8" name="Rectangle 7"/>
          <p:cNvSpPr/>
          <p:nvPr/>
        </p:nvSpPr>
        <p:spPr>
          <a:xfrm>
            <a:off x="-1" y="6300321"/>
            <a:ext cx="1664238" cy="523220"/>
          </a:xfrm>
          <a:prstGeom prst="rect">
            <a:avLst/>
          </a:prstGeom>
        </p:spPr>
        <p:txBody>
          <a:bodyPr wrap="none">
            <a:spAutoFit/>
          </a:bodyPr>
          <a:lstStyle/>
          <a:p>
            <a:pPr algn="ctr"/>
            <a:r>
              <a:rPr lang="en-US" sz="1400" b="1" dirty="0">
                <a:latin typeface="Times New Roman" panose="02020603050405020304" pitchFamily="18" charset="0"/>
                <a:cs typeface="Times New Roman" panose="02020603050405020304" pitchFamily="18" charset="0"/>
              </a:rPr>
              <a:t>Date:</a:t>
            </a:r>
            <a:endParaRPr lang="en-IN" sz="1400" b="1" dirty="0">
              <a:latin typeface="Times New Roman" panose="02020603050405020304" pitchFamily="18" charset="0"/>
              <a:cs typeface="Times New Roman" panose="02020603050405020304" pitchFamily="18" charset="0"/>
            </a:endParaRPr>
          </a:p>
          <a:p>
            <a:r>
              <a:rPr lang="en-IN" sz="1400" b="1" dirty="0">
                <a:latin typeface="Times New Roman" panose="02020603050405020304" pitchFamily="18" charset="0"/>
                <a:cs typeface="Times New Roman" panose="02020603050405020304" pitchFamily="18" charset="0"/>
              </a:rPr>
              <a:t>10</a:t>
            </a:r>
            <a:r>
              <a:rPr lang="en-IN" sz="1400" b="1" baseline="30000" dirty="0">
                <a:latin typeface="Times New Roman" panose="02020603050405020304" pitchFamily="18" charset="0"/>
                <a:cs typeface="Times New Roman" panose="02020603050405020304" pitchFamily="18" charset="0"/>
              </a:rPr>
              <a:t>th</a:t>
            </a:r>
            <a:r>
              <a:rPr lang="en-IN" sz="1400" b="1" dirty="0">
                <a:latin typeface="Times New Roman" panose="02020603050405020304" pitchFamily="18" charset="0"/>
                <a:cs typeface="Times New Roman" panose="02020603050405020304" pitchFamily="18" charset="0"/>
              </a:rPr>
              <a:t> MARCH, 2025</a:t>
            </a:r>
          </a:p>
        </p:txBody>
      </p:sp>
      <p:sp>
        <p:nvSpPr>
          <p:cNvPr id="9" name="TextBox 8">
            <a:extLst>
              <a:ext uri="{FF2B5EF4-FFF2-40B4-BE49-F238E27FC236}">
                <a16:creationId xmlns:a16="http://schemas.microsoft.com/office/drawing/2014/main" id="{C797D5CC-19BF-012E-AC24-CE20F9F00372}"/>
              </a:ext>
            </a:extLst>
          </p:cNvPr>
          <p:cNvSpPr txBox="1"/>
          <p:nvPr/>
        </p:nvSpPr>
        <p:spPr>
          <a:xfrm>
            <a:off x="272144" y="5023758"/>
            <a:ext cx="3254829" cy="830997"/>
          </a:xfrm>
          <a:prstGeom prst="rect">
            <a:avLst/>
          </a:prstGeom>
          <a:noFill/>
        </p:spPr>
        <p:txBody>
          <a:bodyPr wrap="square" rtlCol="0">
            <a:spAutoFit/>
          </a:bodyPr>
          <a:lstStyle/>
          <a:p>
            <a:pPr algn="ctr"/>
            <a:r>
              <a:rPr lang="en-IN" sz="2400" dirty="0">
                <a:latin typeface="Times New Roman" panose="02020603050405020304" pitchFamily="18" charset="0"/>
                <a:cs typeface="Times New Roman" panose="02020603050405020304" pitchFamily="18" charset="0"/>
              </a:rPr>
              <a:t>Gender-wise Means: Factors Under Study</a:t>
            </a:r>
          </a:p>
        </p:txBody>
      </p:sp>
      <p:sp>
        <p:nvSpPr>
          <p:cNvPr id="10" name="TextBox 9">
            <a:extLst>
              <a:ext uri="{FF2B5EF4-FFF2-40B4-BE49-F238E27FC236}">
                <a16:creationId xmlns:a16="http://schemas.microsoft.com/office/drawing/2014/main" id="{36F26CB7-CF92-028B-3658-2330FA8D47EB}"/>
              </a:ext>
            </a:extLst>
          </p:cNvPr>
          <p:cNvSpPr txBox="1"/>
          <p:nvPr/>
        </p:nvSpPr>
        <p:spPr>
          <a:xfrm>
            <a:off x="4136571" y="1447796"/>
            <a:ext cx="7380515" cy="5016758"/>
          </a:xfrm>
          <a:prstGeom prst="rect">
            <a:avLst/>
          </a:prstGeom>
          <a:noFill/>
        </p:spPr>
        <p:txBody>
          <a:bodyPr wrap="square" rtlCol="0">
            <a:spAutoFit/>
          </a:bodyPr>
          <a:lstStyle/>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There is a significant difference in mean performance expectancy, effort expectancy and trust with respect to gender, at a level of significance 0.05.</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All genders seem neutral about perceived social impact, and about ethical concerns.</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Males tend to trust gen AI tools more than other genders.</a:t>
            </a:r>
          </a:p>
          <a:p>
            <a:pPr marL="457200" indent="-457200">
              <a:buFont typeface="Arial" panose="020B0604020202020204" pitchFamily="34" charset="0"/>
              <a:buChar char="•"/>
            </a:pPr>
            <a:endParaRPr lang="en-IN" sz="3200" dirty="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D46C2F42-E7C8-B8CA-C286-935F31BBB479}"/>
              </a:ext>
            </a:extLst>
          </p:cNvPr>
          <p:cNvPicPr>
            <a:picLocks noChangeAspect="1"/>
          </p:cNvPicPr>
          <p:nvPr/>
        </p:nvPicPr>
        <p:blipFill>
          <a:blip r:embed="rId3"/>
          <a:stretch>
            <a:fillRect/>
          </a:stretch>
        </p:blipFill>
        <p:spPr>
          <a:xfrm>
            <a:off x="367678" y="1481971"/>
            <a:ext cx="3268152" cy="3551269"/>
          </a:xfrm>
          <a:prstGeom prst="rect">
            <a:avLst/>
          </a:prstGeom>
        </p:spPr>
      </p:pic>
    </p:spTree>
    <p:extLst>
      <p:ext uri="{BB962C8B-B14F-4D97-AF65-F5344CB8AC3E}">
        <p14:creationId xmlns:p14="http://schemas.microsoft.com/office/powerpoint/2010/main" val="31334688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6ED3DF-81D5-F022-8A05-6A204604AD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E7B2D1-5D24-3E39-0C77-A6A1B4E29B49}"/>
              </a:ext>
            </a:extLst>
          </p:cNvPr>
          <p:cNvSpPr>
            <a:spLocks noGrp="1"/>
          </p:cNvSpPr>
          <p:nvPr>
            <p:ph type="title"/>
          </p:nvPr>
        </p:nvSpPr>
        <p:spPr>
          <a:xfrm>
            <a:off x="0" y="0"/>
            <a:ext cx="12192000" cy="1228725"/>
          </a:xfrm>
          <a:solidFill>
            <a:schemeClr val="accent2">
              <a:alpha val="36000"/>
            </a:schemeClr>
          </a:solidFill>
        </p:spPr>
        <p:txBody>
          <a:bodyPr>
            <a:normAutofit/>
          </a:bodyPr>
          <a:lstStyle/>
          <a:p>
            <a:pPr algn="ctr"/>
            <a:r>
              <a:rPr lang="en-US" sz="3600" b="1" dirty="0">
                <a:latin typeface="Times New Roman" panose="02020603050405020304" pitchFamily="18" charset="0"/>
                <a:cs typeface="Times New Roman" panose="02020603050405020304" pitchFamily="18" charset="0"/>
              </a:rPr>
              <a:t>RESULTS AND DISCUSSION</a:t>
            </a:r>
            <a:endParaRPr lang="en-IN" sz="3600" b="1" dirty="0">
              <a:latin typeface="Times New Roman" panose="02020603050405020304" pitchFamily="18" charset="0"/>
              <a:cs typeface="Times New Roman" panose="02020603050405020304" pitchFamily="18" charset="0"/>
            </a:endParaRPr>
          </a:p>
        </p:txBody>
      </p:sp>
      <p:sp>
        <p:nvSpPr>
          <p:cNvPr id="5" name="Footer Placeholder 9">
            <a:extLst>
              <a:ext uri="{FF2B5EF4-FFF2-40B4-BE49-F238E27FC236}">
                <a16:creationId xmlns:a16="http://schemas.microsoft.com/office/drawing/2014/main" id="{E5368ABA-F763-7AB4-014A-02AB23FCB127}"/>
              </a:ext>
            </a:extLst>
          </p:cNvPr>
          <p:cNvSpPr>
            <a:spLocks noGrp="1"/>
          </p:cNvSpPr>
          <p:nvPr>
            <p:ph type="ftr" sz="quarter" idx="11"/>
          </p:nvPr>
        </p:nvSpPr>
        <p:spPr>
          <a:xfrm>
            <a:off x="0" y="6265862"/>
            <a:ext cx="12192000" cy="592138"/>
          </a:xfrm>
          <a:gradFill flip="none" rotWithShape="1">
            <a:gsLst>
              <a:gs pos="0">
                <a:schemeClr val="accent2">
                  <a:lumMod val="0"/>
                  <a:lumOff val="100000"/>
                </a:schemeClr>
              </a:gs>
              <a:gs pos="9000">
                <a:schemeClr val="accent2">
                  <a:lumMod val="92000"/>
                  <a:lumOff val="8000"/>
                  <a:alpha val="94000"/>
                </a:schemeClr>
              </a:gs>
              <a:gs pos="100000">
                <a:schemeClr val="accent2">
                  <a:lumMod val="60000"/>
                </a:schemeClr>
              </a:gs>
            </a:gsLst>
            <a:path path="circle">
              <a:fillToRect l="50000" t="130000" r="50000" b="-30000"/>
            </a:path>
            <a:tileRect/>
          </a:gradFill>
        </p:spPr>
        <p:txBody>
          <a:bodyPr/>
          <a:lstStyle/>
          <a:p>
            <a:r>
              <a:rPr lang="en-IN" b="1" dirty="0">
                <a:solidFill>
                  <a:schemeClr val="tx1"/>
                </a:solidFill>
                <a:latin typeface="Times New Roman" panose="02020603050405020304" pitchFamily="18" charset="0"/>
                <a:cs typeface="Times New Roman" panose="02020603050405020304" pitchFamily="18" charset="0"/>
              </a:rPr>
              <a:t>INTERNATIONAL CONFERENCE ON CURRENT TRENDS IN INFORMATION TECHNOLOGY (ICCTIT-2025)</a:t>
            </a:r>
            <a:endParaRPr lang="en-IN" dirty="0">
              <a:solidFill>
                <a:schemeClr val="tx1"/>
              </a:solidFill>
            </a:endParaRPr>
          </a:p>
        </p:txBody>
      </p:sp>
      <p:sp>
        <p:nvSpPr>
          <p:cNvPr id="6" name="Content Placeholder 2">
            <a:extLst>
              <a:ext uri="{FF2B5EF4-FFF2-40B4-BE49-F238E27FC236}">
                <a16:creationId xmlns:a16="http://schemas.microsoft.com/office/drawing/2014/main" id="{6C3A3864-04BB-59B2-A517-0485B94F9B4F}"/>
              </a:ext>
            </a:extLst>
          </p:cNvPr>
          <p:cNvSpPr>
            <a:spLocks noGrp="1"/>
          </p:cNvSpPr>
          <p:nvPr>
            <p:ph idx="1"/>
          </p:nvPr>
        </p:nvSpPr>
        <p:spPr>
          <a:xfrm>
            <a:off x="0" y="1226502"/>
            <a:ext cx="12192000" cy="5039360"/>
          </a:xfrm>
        </p:spPr>
        <p:txBody>
          <a:bodyPr/>
          <a:lstStyle/>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0FD3669A-41C5-7687-C400-208D8EC47248}"/>
              </a:ext>
            </a:extLst>
          </p:cNvPr>
          <p:cNvSpPr>
            <a:spLocks noGrp="1"/>
          </p:cNvSpPr>
          <p:nvPr>
            <p:ph type="sldNum" sz="quarter" idx="12"/>
          </p:nvPr>
        </p:nvSpPr>
        <p:spPr/>
        <p:txBody>
          <a:bodyPr/>
          <a:lstStyle/>
          <a:p>
            <a:fld id="{069A66BF-523A-4823-845B-291A06923E4B}" type="slidenum">
              <a:rPr lang="en-IN" smtClean="0">
                <a:solidFill>
                  <a:schemeClr val="tx1"/>
                </a:solidFill>
              </a:rPr>
              <a:t>8</a:t>
            </a:fld>
            <a:endParaRPr lang="en-IN" dirty="0">
              <a:solidFill>
                <a:schemeClr val="tx1"/>
              </a:solidFill>
            </a:endParaRPr>
          </a:p>
        </p:txBody>
      </p:sp>
      <p:sp>
        <p:nvSpPr>
          <p:cNvPr id="8" name="Rectangle 7">
            <a:extLst>
              <a:ext uri="{FF2B5EF4-FFF2-40B4-BE49-F238E27FC236}">
                <a16:creationId xmlns:a16="http://schemas.microsoft.com/office/drawing/2014/main" id="{B44BDD45-56A9-EA43-F4CC-A7C25B16CBFE}"/>
              </a:ext>
            </a:extLst>
          </p:cNvPr>
          <p:cNvSpPr/>
          <p:nvPr/>
        </p:nvSpPr>
        <p:spPr>
          <a:xfrm>
            <a:off x="-1" y="6300321"/>
            <a:ext cx="1664238" cy="523220"/>
          </a:xfrm>
          <a:prstGeom prst="rect">
            <a:avLst/>
          </a:prstGeom>
        </p:spPr>
        <p:txBody>
          <a:bodyPr wrap="none">
            <a:spAutoFit/>
          </a:bodyPr>
          <a:lstStyle/>
          <a:p>
            <a:pPr algn="ctr"/>
            <a:r>
              <a:rPr lang="en-US" sz="1400" b="1" dirty="0">
                <a:latin typeface="Times New Roman" panose="02020603050405020304" pitchFamily="18" charset="0"/>
                <a:cs typeface="Times New Roman" panose="02020603050405020304" pitchFamily="18" charset="0"/>
              </a:rPr>
              <a:t>Date:</a:t>
            </a:r>
            <a:endParaRPr lang="en-IN" sz="1400" b="1" dirty="0">
              <a:latin typeface="Times New Roman" panose="02020603050405020304" pitchFamily="18" charset="0"/>
              <a:cs typeface="Times New Roman" panose="02020603050405020304" pitchFamily="18" charset="0"/>
            </a:endParaRPr>
          </a:p>
          <a:p>
            <a:r>
              <a:rPr lang="en-IN" sz="1400" b="1" dirty="0">
                <a:latin typeface="Times New Roman" panose="02020603050405020304" pitchFamily="18" charset="0"/>
                <a:cs typeface="Times New Roman" panose="02020603050405020304" pitchFamily="18" charset="0"/>
              </a:rPr>
              <a:t>10</a:t>
            </a:r>
            <a:r>
              <a:rPr lang="en-IN" sz="1400" b="1" baseline="30000" dirty="0">
                <a:latin typeface="Times New Roman" panose="02020603050405020304" pitchFamily="18" charset="0"/>
                <a:cs typeface="Times New Roman" panose="02020603050405020304" pitchFamily="18" charset="0"/>
              </a:rPr>
              <a:t>th</a:t>
            </a:r>
            <a:r>
              <a:rPr lang="en-IN" sz="1400" b="1" dirty="0">
                <a:latin typeface="Times New Roman" panose="02020603050405020304" pitchFamily="18" charset="0"/>
                <a:cs typeface="Times New Roman" panose="02020603050405020304" pitchFamily="18" charset="0"/>
              </a:rPr>
              <a:t> MARCH, 2025</a:t>
            </a:r>
          </a:p>
        </p:txBody>
      </p:sp>
      <p:sp>
        <p:nvSpPr>
          <p:cNvPr id="9" name="TextBox 8">
            <a:extLst>
              <a:ext uri="{FF2B5EF4-FFF2-40B4-BE49-F238E27FC236}">
                <a16:creationId xmlns:a16="http://schemas.microsoft.com/office/drawing/2014/main" id="{258CCA80-8603-0EDA-E417-9B482FC84844}"/>
              </a:ext>
            </a:extLst>
          </p:cNvPr>
          <p:cNvSpPr txBox="1"/>
          <p:nvPr/>
        </p:nvSpPr>
        <p:spPr>
          <a:xfrm>
            <a:off x="315222" y="4029431"/>
            <a:ext cx="6630325" cy="461665"/>
          </a:xfrm>
          <a:prstGeom prst="rect">
            <a:avLst/>
          </a:prstGeom>
          <a:noFill/>
        </p:spPr>
        <p:txBody>
          <a:bodyPr wrap="square" rtlCol="0">
            <a:spAutoFit/>
          </a:bodyPr>
          <a:lstStyle/>
          <a:p>
            <a:pPr algn="ctr"/>
            <a:r>
              <a:rPr lang="en-IN" sz="2400" dirty="0">
                <a:latin typeface="Times New Roman" panose="02020603050405020304" pitchFamily="18" charset="0"/>
                <a:cs typeface="Times New Roman" panose="02020603050405020304" pitchFamily="18" charset="0"/>
              </a:rPr>
              <a:t>Age-wise Means: Factors Under Study</a:t>
            </a:r>
          </a:p>
        </p:txBody>
      </p:sp>
      <p:pic>
        <p:nvPicPr>
          <p:cNvPr id="4" name="Picture 3">
            <a:extLst>
              <a:ext uri="{FF2B5EF4-FFF2-40B4-BE49-F238E27FC236}">
                <a16:creationId xmlns:a16="http://schemas.microsoft.com/office/drawing/2014/main" id="{77656596-07DB-4419-6AC8-821DE1CAC56D}"/>
              </a:ext>
            </a:extLst>
          </p:cNvPr>
          <p:cNvPicPr>
            <a:picLocks noChangeAspect="1"/>
          </p:cNvPicPr>
          <p:nvPr/>
        </p:nvPicPr>
        <p:blipFill>
          <a:blip r:embed="rId3"/>
          <a:stretch>
            <a:fillRect/>
          </a:stretch>
        </p:blipFill>
        <p:spPr>
          <a:xfrm>
            <a:off x="315222" y="1447796"/>
            <a:ext cx="6630325" cy="2581635"/>
          </a:xfrm>
          <a:prstGeom prst="rect">
            <a:avLst/>
          </a:prstGeom>
        </p:spPr>
      </p:pic>
      <p:sp>
        <p:nvSpPr>
          <p:cNvPr id="11" name="TextBox 10">
            <a:extLst>
              <a:ext uri="{FF2B5EF4-FFF2-40B4-BE49-F238E27FC236}">
                <a16:creationId xmlns:a16="http://schemas.microsoft.com/office/drawing/2014/main" id="{9A273E88-08E2-B5E6-2118-92EF15499606}"/>
              </a:ext>
            </a:extLst>
          </p:cNvPr>
          <p:cNvSpPr txBox="1"/>
          <p:nvPr/>
        </p:nvSpPr>
        <p:spPr>
          <a:xfrm>
            <a:off x="7113813" y="1393371"/>
            <a:ext cx="4985657" cy="3046988"/>
          </a:xfrm>
          <a:prstGeom prst="rect">
            <a:avLst/>
          </a:prstGeom>
          <a:noFill/>
        </p:spPr>
        <p:txBody>
          <a:bodyPr wrap="square" rtlCol="0">
            <a:spAutoFit/>
          </a:bodyPr>
          <a:lstStyle/>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Mean attitude towards ease of use, perceived social impact and performance expectancy differ significantly across age groups.</a:t>
            </a:r>
            <a:endParaRPr lang="en-IN" sz="3200"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691C6AC4-0F22-2236-4119-CD131EFFCB2A}"/>
              </a:ext>
            </a:extLst>
          </p:cNvPr>
          <p:cNvSpPr txBox="1"/>
          <p:nvPr/>
        </p:nvSpPr>
        <p:spPr>
          <a:xfrm>
            <a:off x="315222" y="4491096"/>
            <a:ext cx="11561556" cy="584775"/>
          </a:xfrm>
          <a:prstGeom prst="rect">
            <a:avLst/>
          </a:prstGeom>
          <a:noFill/>
        </p:spPr>
        <p:txBody>
          <a:bodyPr wrap="square" rtlCol="0">
            <a:spAutoFit/>
          </a:bodyPr>
          <a:lstStyle/>
          <a:p>
            <a:pPr marL="457200" indent="-457200">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Respondents across age groups are neutral about ethical concerns. </a:t>
            </a:r>
          </a:p>
        </p:txBody>
      </p:sp>
    </p:spTree>
    <p:extLst>
      <p:ext uri="{BB962C8B-B14F-4D97-AF65-F5344CB8AC3E}">
        <p14:creationId xmlns:p14="http://schemas.microsoft.com/office/powerpoint/2010/main" val="41893726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12A86B-15A6-B2B6-38E4-4B61D551E2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E205F4-9067-784F-2D44-2FC3A8B493B3}"/>
              </a:ext>
            </a:extLst>
          </p:cNvPr>
          <p:cNvSpPr>
            <a:spLocks noGrp="1"/>
          </p:cNvSpPr>
          <p:nvPr>
            <p:ph type="title"/>
          </p:nvPr>
        </p:nvSpPr>
        <p:spPr>
          <a:xfrm>
            <a:off x="0" y="0"/>
            <a:ext cx="12192000" cy="1228725"/>
          </a:xfrm>
          <a:solidFill>
            <a:schemeClr val="accent2">
              <a:alpha val="36000"/>
            </a:schemeClr>
          </a:solidFill>
        </p:spPr>
        <p:txBody>
          <a:bodyPr>
            <a:normAutofit/>
          </a:bodyPr>
          <a:lstStyle/>
          <a:p>
            <a:pPr algn="ctr"/>
            <a:r>
              <a:rPr lang="en-US" sz="3600" b="1" dirty="0">
                <a:latin typeface="Times New Roman" panose="02020603050405020304" pitchFamily="18" charset="0"/>
                <a:cs typeface="Times New Roman" panose="02020603050405020304" pitchFamily="18" charset="0"/>
              </a:rPr>
              <a:t>RESULTS AND DISCUSSION</a:t>
            </a:r>
            <a:endParaRPr lang="en-IN" sz="3600" b="1" dirty="0">
              <a:latin typeface="Times New Roman" panose="02020603050405020304" pitchFamily="18" charset="0"/>
              <a:cs typeface="Times New Roman" panose="02020603050405020304" pitchFamily="18" charset="0"/>
            </a:endParaRPr>
          </a:p>
        </p:txBody>
      </p:sp>
      <p:sp>
        <p:nvSpPr>
          <p:cNvPr id="5" name="Footer Placeholder 9">
            <a:extLst>
              <a:ext uri="{FF2B5EF4-FFF2-40B4-BE49-F238E27FC236}">
                <a16:creationId xmlns:a16="http://schemas.microsoft.com/office/drawing/2014/main" id="{FF49BBA0-AD27-4A92-A3CA-ED789F243A0F}"/>
              </a:ext>
            </a:extLst>
          </p:cNvPr>
          <p:cNvSpPr>
            <a:spLocks noGrp="1"/>
          </p:cNvSpPr>
          <p:nvPr>
            <p:ph type="ftr" sz="quarter" idx="11"/>
          </p:nvPr>
        </p:nvSpPr>
        <p:spPr>
          <a:xfrm>
            <a:off x="0" y="6265862"/>
            <a:ext cx="12192000" cy="592138"/>
          </a:xfrm>
          <a:gradFill flip="none" rotWithShape="1">
            <a:gsLst>
              <a:gs pos="0">
                <a:schemeClr val="accent2">
                  <a:lumMod val="0"/>
                  <a:lumOff val="100000"/>
                </a:schemeClr>
              </a:gs>
              <a:gs pos="9000">
                <a:schemeClr val="accent2">
                  <a:lumMod val="92000"/>
                  <a:lumOff val="8000"/>
                  <a:alpha val="94000"/>
                </a:schemeClr>
              </a:gs>
              <a:gs pos="100000">
                <a:schemeClr val="accent2">
                  <a:lumMod val="60000"/>
                </a:schemeClr>
              </a:gs>
            </a:gsLst>
            <a:path path="circle">
              <a:fillToRect l="50000" t="130000" r="50000" b="-30000"/>
            </a:path>
            <a:tileRect/>
          </a:gradFill>
        </p:spPr>
        <p:txBody>
          <a:bodyPr/>
          <a:lstStyle/>
          <a:p>
            <a:r>
              <a:rPr lang="en-IN" b="1" dirty="0">
                <a:solidFill>
                  <a:schemeClr val="tx1"/>
                </a:solidFill>
                <a:latin typeface="Times New Roman" panose="02020603050405020304" pitchFamily="18" charset="0"/>
                <a:cs typeface="Times New Roman" panose="02020603050405020304" pitchFamily="18" charset="0"/>
              </a:rPr>
              <a:t>INTERNATIONAL CONFERENCE ON CURRENT TRENDS IN INFORMATION TECHNOLOGY (ICCTIT-2025)</a:t>
            </a:r>
            <a:endParaRPr lang="en-IN" dirty="0">
              <a:solidFill>
                <a:schemeClr val="tx1"/>
              </a:solidFill>
            </a:endParaRPr>
          </a:p>
        </p:txBody>
      </p:sp>
      <p:sp>
        <p:nvSpPr>
          <p:cNvPr id="6" name="Content Placeholder 2">
            <a:extLst>
              <a:ext uri="{FF2B5EF4-FFF2-40B4-BE49-F238E27FC236}">
                <a16:creationId xmlns:a16="http://schemas.microsoft.com/office/drawing/2014/main" id="{B8BD732C-5242-2551-0502-5BB6EBA92B5A}"/>
              </a:ext>
            </a:extLst>
          </p:cNvPr>
          <p:cNvSpPr>
            <a:spLocks noGrp="1"/>
          </p:cNvSpPr>
          <p:nvPr>
            <p:ph idx="1"/>
          </p:nvPr>
        </p:nvSpPr>
        <p:spPr>
          <a:xfrm>
            <a:off x="0" y="1226502"/>
            <a:ext cx="12192000" cy="5039360"/>
          </a:xfrm>
        </p:spPr>
        <p:txBody>
          <a:bodyPr/>
          <a:lstStyle/>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6188E559-7630-D69E-9AEA-54454EB4B695}"/>
              </a:ext>
            </a:extLst>
          </p:cNvPr>
          <p:cNvSpPr>
            <a:spLocks noGrp="1"/>
          </p:cNvSpPr>
          <p:nvPr>
            <p:ph type="sldNum" sz="quarter" idx="12"/>
          </p:nvPr>
        </p:nvSpPr>
        <p:spPr/>
        <p:txBody>
          <a:bodyPr/>
          <a:lstStyle/>
          <a:p>
            <a:fld id="{069A66BF-523A-4823-845B-291A06923E4B}" type="slidenum">
              <a:rPr lang="en-IN" smtClean="0">
                <a:solidFill>
                  <a:schemeClr val="tx1"/>
                </a:solidFill>
              </a:rPr>
              <a:t>9</a:t>
            </a:fld>
            <a:endParaRPr lang="en-IN" dirty="0">
              <a:solidFill>
                <a:schemeClr val="tx1"/>
              </a:solidFill>
            </a:endParaRPr>
          </a:p>
        </p:txBody>
      </p:sp>
      <p:sp>
        <p:nvSpPr>
          <p:cNvPr id="8" name="Rectangle 7">
            <a:extLst>
              <a:ext uri="{FF2B5EF4-FFF2-40B4-BE49-F238E27FC236}">
                <a16:creationId xmlns:a16="http://schemas.microsoft.com/office/drawing/2014/main" id="{CC190206-EF48-B08A-AA0A-52CB2EAAA735}"/>
              </a:ext>
            </a:extLst>
          </p:cNvPr>
          <p:cNvSpPr/>
          <p:nvPr/>
        </p:nvSpPr>
        <p:spPr>
          <a:xfrm>
            <a:off x="-1" y="6300321"/>
            <a:ext cx="1664238" cy="523220"/>
          </a:xfrm>
          <a:prstGeom prst="rect">
            <a:avLst/>
          </a:prstGeom>
        </p:spPr>
        <p:txBody>
          <a:bodyPr wrap="none">
            <a:spAutoFit/>
          </a:bodyPr>
          <a:lstStyle/>
          <a:p>
            <a:pPr algn="ctr"/>
            <a:r>
              <a:rPr lang="en-US" sz="1400" b="1" dirty="0">
                <a:latin typeface="Times New Roman" panose="02020603050405020304" pitchFamily="18" charset="0"/>
                <a:cs typeface="Times New Roman" panose="02020603050405020304" pitchFamily="18" charset="0"/>
              </a:rPr>
              <a:t>Date:</a:t>
            </a:r>
            <a:endParaRPr lang="en-IN" sz="1400" b="1" dirty="0">
              <a:latin typeface="Times New Roman" panose="02020603050405020304" pitchFamily="18" charset="0"/>
              <a:cs typeface="Times New Roman" panose="02020603050405020304" pitchFamily="18" charset="0"/>
            </a:endParaRPr>
          </a:p>
          <a:p>
            <a:r>
              <a:rPr lang="en-IN" sz="1400" b="1" dirty="0">
                <a:latin typeface="Times New Roman" panose="02020603050405020304" pitchFamily="18" charset="0"/>
                <a:cs typeface="Times New Roman" panose="02020603050405020304" pitchFamily="18" charset="0"/>
              </a:rPr>
              <a:t>10</a:t>
            </a:r>
            <a:r>
              <a:rPr lang="en-IN" sz="1400" b="1" baseline="30000" dirty="0">
                <a:latin typeface="Times New Roman" panose="02020603050405020304" pitchFamily="18" charset="0"/>
                <a:cs typeface="Times New Roman" panose="02020603050405020304" pitchFamily="18" charset="0"/>
              </a:rPr>
              <a:t>th</a:t>
            </a:r>
            <a:r>
              <a:rPr lang="en-IN" sz="1400" b="1" dirty="0">
                <a:latin typeface="Times New Roman" panose="02020603050405020304" pitchFamily="18" charset="0"/>
                <a:cs typeface="Times New Roman" panose="02020603050405020304" pitchFamily="18" charset="0"/>
              </a:rPr>
              <a:t> MARCH, 2025</a:t>
            </a:r>
          </a:p>
        </p:txBody>
      </p:sp>
      <p:sp>
        <p:nvSpPr>
          <p:cNvPr id="9" name="TextBox 8">
            <a:extLst>
              <a:ext uri="{FF2B5EF4-FFF2-40B4-BE49-F238E27FC236}">
                <a16:creationId xmlns:a16="http://schemas.microsoft.com/office/drawing/2014/main" id="{7BC25C43-AFA6-B2CF-2EBC-5BC82A16D4AC}"/>
              </a:ext>
            </a:extLst>
          </p:cNvPr>
          <p:cNvSpPr txBox="1"/>
          <p:nvPr/>
        </p:nvSpPr>
        <p:spPr>
          <a:xfrm>
            <a:off x="315222" y="5058135"/>
            <a:ext cx="5252821" cy="461665"/>
          </a:xfrm>
          <a:prstGeom prst="rect">
            <a:avLst/>
          </a:prstGeom>
          <a:noFill/>
        </p:spPr>
        <p:txBody>
          <a:bodyPr wrap="square" rtlCol="0">
            <a:spAutoFit/>
          </a:bodyPr>
          <a:lstStyle/>
          <a:p>
            <a:pPr algn="ctr"/>
            <a:r>
              <a:rPr lang="en-IN" sz="2400" dirty="0">
                <a:latin typeface="Times New Roman" panose="02020603050405020304" pitchFamily="18" charset="0"/>
                <a:cs typeface="Times New Roman" panose="02020603050405020304" pitchFamily="18" charset="0"/>
              </a:rPr>
              <a:t>Logistic Regression Metrics</a:t>
            </a:r>
          </a:p>
        </p:txBody>
      </p:sp>
      <p:pic>
        <p:nvPicPr>
          <p:cNvPr id="10" name="Picture 9">
            <a:extLst>
              <a:ext uri="{FF2B5EF4-FFF2-40B4-BE49-F238E27FC236}">
                <a16:creationId xmlns:a16="http://schemas.microsoft.com/office/drawing/2014/main" id="{74ECE33E-F625-7F8F-47E3-7E2731285F50}"/>
              </a:ext>
            </a:extLst>
          </p:cNvPr>
          <p:cNvPicPr>
            <a:picLocks noChangeAspect="1"/>
          </p:cNvPicPr>
          <p:nvPr/>
        </p:nvPicPr>
        <p:blipFill>
          <a:blip r:embed="rId3"/>
          <a:stretch>
            <a:fillRect/>
          </a:stretch>
        </p:blipFill>
        <p:spPr>
          <a:xfrm>
            <a:off x="307915" y="1375971"/>
            <a:ext cx="5211139" cy="3531754"/>
          </a:xfrm>
          <a:prstGeom prst="rect">
            <a:avLst/>
          </a:prstGeom>
        </p:spPr>
      </p:pic>
      <p:pic>
        <p:nvPicPr>
          <p:cNvPr id="14" name="Picture 13">
            <a:extLst>
              <a:ext uri="{FF2B5EF4-FFF2-40B4-BE49-F238E27FC236}">
                <a16:creationId xmlns:a16="http://schemas.microsoft.com/office/drawing/2014/main" id="{256B6BA0-6C6F-5586-779C-90C73CC67B2E}"/>
              </a:ext>
            </a:extLst>
          </p:cNvPr>
          <p:cNvPicPr>
            <a:picLocks noChangeAspect="1"/>
          </p:cNvPicPr>
          <p:nvPr/>
        </p:nvPicPr>
        <p:blipFill>
          <a:blip r:embed="rId4"/>
          <a:stretch>
            <a:fillRect/>
          </a:stretch>
        </p:blipFill>
        <p:spPr>
          <a:xfrm>
            <a:off x="5845215" y="1375971"/>
            <a:ext cx="5530770" cy="2858380"/>
          </a:xfrm>
          <a:prstGeom prst="rect">
            <a:avLst/>
          </a:prstGeom>
        </p:spPr>
      </p:pic>
      <p:sp>
        <p:nvSpPr>
          <p:cNvPr id="15" name="TextBox 14">
            <a:extLst>
              <a:ext uri="{FF2B5EF4-FFF2-40B4-BE49-F238E27FC236}">
                <a16:creationId xmlns:a16="http://schemas.microsoft.com/office/drawing/2014/main" id="{1393007B-FD63-0840-C575-916569D1AFAF}"/>
              </a:ext>
            </a:extLst>
          </p:cNvPr>
          <p:cNvSpPr txBox="1"/>
          <p:nvPr/>
        </p:nvSpPr>
        <p:spPr>
          <a:xfrm>
            <a:off x="5932303" y="4248637"/>
            <a:ext cx="5252821" cy="461665"/>
          </a:xfrm>
          <a:prstGeom prst="rect">
            <a:avLst/>
          </a:prstGeom>
          <a:noFill/>
        </p:spPr>
        <p:txBody>
          <a:bodyPr wrap="square" rtlCol="0">
            <a:spAutoFit/>
          </a:bodyPr>
          <a:lstStyle/>
          <a:p>
            <a:pPr algn="ctr"/>
            <a:r>
              <a:rPr lang="en-IN" sz="2400" dirty="0">
                <a:latin typeface="Times New Roman" panose="02020603050405020304" pitchFamily="18" charset="0"/>
                <a:cs typeface="Times New Roman" panose="02020603050405020304" pitchFamily="18" charset="0"/>
              </a:rPr>
              <a:t>Logistic Regression Feature Coefficients</a:t>
            </a:r>
          </a:p>
        </p:txBody>
      </p:sp>
      <p:sp>
        <p:nvSpPr>
          <p:cNvPr id="16" name="TextBox 15">
            <a:extLst>
              <a:ext uri="{FF2B5EF4-FFF2-40B4-BE49-F238E27FC236}">
                <a16:creationId xmlns:a16="http://schemas.microsoft.com/office/drawing/2014/main" id="{7BF53A84-DD1A-DD81-5954-C9D3F636DA2D}"/>
              </a:ext>
            </a:extLst>
          </p:cNvPr>
          <p:cNvSpPr txBox="1"/>
          <p:nvPr/>
        </p:nvSpPr>
        <p:spPr>
          <a:xfrm>
            <a:off x="5704114" y="4899001"/>
            <a:ext cx="6117771" cy="1200329"/>
          </a:xfrm>
          <a:prstGeom prst="rect">
            <a:avLst/>
          </a:prstGeom>
          <a:noFill/>
        </p:spPr>
        <p:txBody>
          <a:bodyPr wrap="square" rtlCol="0">
            <a:spAutoFit/>
          </a:bodyPr>
          <a:lstStyle/>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Target Variable: Frequency of usage, where class 1 is “Frequent User” and class 0 is “Infrequent User”.</a:t>
            </a:r>
          </a:p>
        </p:txBody>
      </p:sp>
    </p:spTree>
    <p:extLst>
      <p:ext uri="{BB962C8B-B14F-4D97-AF65-F5344CB8AC3E}">
        <p14:creationId xmlns:p14="http://schemas.microsoft.com/office/powerpoint/2010/main" val="29298640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228725"/>
          </a:xfrm>
          <a:solidFill>
            <a:schemeClr val="accent2">
              <a:alpha val="36000"/>
            </a:schemeClr>
          </a:solidFill>
        </p:spPr>
        <p:txBody>
          <a:bodyPr>
            <a:normAutofit/>
          </a:bodyPr>
          <a:lstStyle/>
          <a:p>
            <a:pPr algn="ctr"/>
            <a:r>
              <a:rPr lang="en-US" sz="3600" b="1" dirty="0">
                <a:latin typeface="Times New Roman" panose="02020603050405020304" pitchFamily="18" charset="0"/>
                <a:cs typeface="Times New Roman" panose="02020603050405020304" pitchFamily="18" charset="0"/>
              </a:rPr>
              <a:t>KEY TAKEAWAY: ETHICS</a:t>
            </a:r>
            <a:endParaRPr lang="en-IN" sz="3600" b="1" dirty="0">
              <a:latin typeface="Times New Roman" panose="02020603050405020304" pitchFamily="18" charset="0"/>
              <a:cs typeface="Times New Roman" panose="02020603050405020304" pitchFamily="18" charset="0"/>
            </a:endParaRPr>
          </a:p>
        </p:txBody>
      </p:sp>
      <p:sp>
        <p:nvSpPr>
          <p:cNvPr id="4" name="Content Placeholder 2"/>
          <p:cNvSpPr>
            <a:spLocks noGrp="1"/>
          </p:cNvSpPr>
          <p:nvPr>
            <p:ph idx="1"/>
          </p:nvPr>
        </p:nvSpPr>
        <p:spPr>
          <a:xfrm>
            <a:off x="0" y="1228725"/>
            <a:ext cx="12306300" cy="5629275"/>
          </a:xfrm>
        </p:spPr>
        <p:txBody>
          <a:bodyPr/>
          <a:lstStyle/>
          <a:p>
            <a:r>
              <a:rPr lang="en-US" sz="3200" dirty="0">
                <a:latin typeface="Times New Roman" panose="02020603050405020304" pitchFamily="18" charset="0"/>
                <a:cs typeface="Times New Roman" panose="02020603050405020304" pitchFamily="18" charset="0"/>
              </a:rPr>
              <a:t>A primary and important takeaway from the study is that the general attitude of respondents to the topics of environmental effects of AI and the racial and gender-based biases that may arise at the time of training AI models is neutral. </a:t>
            </a:r>
          </a:p>
          <a:p>
            <a:r>
              <a:rPr lang="en-US" sz="3200" dirty="0">
                <a:latin typeface="Times New Roman" panose="02020603050405020304" pitchFamily="18" charset="0"/>
                <a:cs typeface="Times New Roman" panose="02020603050405020304" pitchFamily="18" charset="0"/>
              </a:rPr>
              <a:t>In light of this, it is even more important for researchers in the gen AI field to be conscious of these and other ethical issues, and to actively work towards solutions to these issues while furthering progress in the field, even if user attitudes do not demand it.</a:t>
            </a:r>
          </a:p>
          <a:p>
            <a:r>
              <a:rPr lang="en-US" sz="3200" dirty="0">
                <a:latin typeface="Times New Roman" panose="02020603050405020304" pitchFamily="18" charset="0"/>
                <a:cs typeface="Times New Roman" panose="02020603050405020304" pitchFamily="18" charset="0"/>
              </a:rPr>
              <a:t>40 </a:t>
            </a:r>
            <a:r>
              <a:rPr lang="en-US" sz="3200">
                <a:latin typeface="Times New Roman" panose="02020603050405020304" pitchFamily="18" charset="0"/>
                <a:cs typeface="Times New Roman" panose="02020603050405020304" pitchFamily="18" charset="0"/>
              </a:rPr>
              <a:t>of the 74 </a:t>
            </a:r>
            <a:r>
              <a:rPr lang="en-US" sz="3200" dirty="0">
                <a:latin typeface="Times New Roman" panose="02020603050405020304" pitchFamily="18" charset="0"/>
                <a:cs typeface="Times New Roman" panose="02020603050405020304" pitchFamily="18" charset="0"/>
              </a:rPr>
              <a:t>respondents also expressed willingness to switch to more environmentally friendly AI tools if they had the opportunity. </a:t>
            </a:r>
          </a:p>
        </p:txBody>
      </p:sp>
      <p:sp>
        <p:nvSpPr>
          <p:cNvPr id="5" name="Footer Placeholder 9"/>
          <p:cNvSpPr>
            <a:spLocks noGrp="1"/>
          </p:cNvSpPr>
          <p:nvPr>
            <p:ph type="ftr" sz="quarter" idx="11"/>
          </p:nvPr>
        </p:nvSpPr>
        <p:spPr>
          <a:xfrm>
            <a:off x="0" y="6265862"/>
            <a:ext cx="12192000" cy="592138"/>
          </a:xfrm>
          <a:gradFill flip="none" rotWithShape="1">
            <a:gsLst>
              <a:gs pos="0">
                <a:schemeClr val="accent2">
                  <a:lumMod val="0"/>
                  <a:lumOff val="100000"/>
                </a:schemeClr>
              </a:gs>
              <a:gs pos="9000">
                <a:schemeClr val="accent2">
                  <a:lumMod val="92000"/>
                  <a:lumOff val="8000"/>
                  <a:alpha val="94000"/>
                </a:schemeClr>
              </a:gs>
              <a:gs pos="100000">
                <a:schemeClr val="accent2">
                  <a:lumMod val="60000"/>
                </a:schemeClr>
              </a:gs>
            </a:gsLst>
            <a:path path="circle">
              <a:fillToRect l="50000" t="130000" r="50000" b="-30000"/>
            </a:path>
            <a:tileRect/>
          </a:gradFill>
        </p:spPr>
        <p:txBody>
          <a:bodyPr/>
          <a:lstStyle/>
          <a:p>
            <a:r>
              <a:rPr lang="en-IN" b="1" dirty="0">
                <a:solidFill>
                  <a:schemeClr val="tx1"/>
                </a:solidFill>
                <a:latin typeface="Times New Roman" panose="02020603050405020304" pitchFamily="18" charset="0"/>
                <a:cs typeface="Times New Roman" panose="02020603050405020304" pitchFamily="18" charset="0"/>
              </a:rPr>
              <a:t>INTERNATIONAL CONFERENCE ON CURRENT TRENDS IN INFORMATION TECHNOLOGY (ICCTIT-2025)</a:t>
            </a:r>
            <a:endParaRPr lang="en-IN" dirty="0">
              <a:solidFill>
                <a:schemeClr val="tx1"/>
              </a:solidFill>
            </a:endParaRPr>
          </a:p>
        </p:txBody>
      </p:sp>
      <p:sp>
        <p:nvSpPr>
          <p:cNvPr id="3" name="Slide Number Placeholder 2"/>
          <p:cNvSpPr>
            <a:spLocks noGrp="1"/>
          </p:cNvSpPr>
          <p:nvPr>
            <p:ph type="sldNum" sz="quarter" idx="12"/>
          </p:nvPr>
        </p:nvSpPr>
        <p:spPr/>
        <p:txBody>
          <a:bodyPr/>
          <a:lstStyle/>
          <a:p>
            <a:fld id="{069A66BF-523A-4823-845B-291A06923E4B}" type="slidenum">
              <a:rPr lang="en-IN" smtClean="0">
                <a:solidFill>
                  <a:schemeClr val="tx1"/>
                </a:solidFill>
              </a:rPr>
              <a:t>10</a:t>
            </a:fld>
            <a:endParaRPr lang="en-IN" dirty="0">
              <a:solidFill>
                <a:schemeClr val="tx1"/>
              </a:solidFill>
            </a:endParaRPr>
          </a:p>
        </p:txBody>
      </p:sp>
      <p:sp>
        <p:nvSpPr>
          <p:cNvPr id="6" name="Rectangle 5"/>
          <p:cNvSpPr/>
          <p:nvPr/>
        </p:nvSpPr>
        <p:spPr>
          <a:xfrm>
            <a:off x="-1" y="6300321"/>
            <a:ext cx="1664238" cy="523220"/>
          </a:xfrm>
          <a:prstGeom prst="rect">
            <a:avLst/>
          </a:prstGeom>
        </p:spPr>
        <p:txBody>
          <a:bodyPr wrap="none">
            <a:spAutoFit/>
          </a:bodyPr>
          <a:lstStyle/>
          <a:p>
            <a:pPr algn="ctr"/>
            <a:r>
              <a:rPr lang="en-US" sz="1400" b="1" dirty="0">
                <a:latin typeface="Times New Roman" panose="02020603050405020304" pitchFamily="18" charset="0"/>
                <a:cs typeface="Times New Roman" panose="02020603050405020304" pitchFamily="18" charset="0"/>
              </a:rPr>
              <a:t>Date:</a:t>
            </a:r>
            <a:endParaRPr lang="en-IN" sz="1400" b="1" dirty="0">
              <a:latin typeface="Times New Roman" panose="02020603050405020304" pitchFamily="18" charset="0"/>
              <a:cs typeface="Times New Roman" panose="02020603050405020304" pitchFamily="18" charset="0"/>
            </a:endParaRPr>
          </a:p>
          <a:p>
            <a:r>
              <a:rPr lang="en-IN" sz="1400" b="1" dirty="0">
                <a:latin typeface="Times New Roman" panose="02020603050405020304" pitchFamily="18" charset="0"/>
                <a:cs typeface="Times New Roman" panose="02020603050405020304" pitchFamily="18" charset="0"/>
              </a:rPr>
              <a:t>10</a:t>
            </a:r>
            <a:r>
              <a:rPr lang="en-IN" sz="1400" b="1" baseline="30000" dirty="0">
                <a:latin typeface="Times New Roman" panose="02020603050405020304" pitchFamily="18" charset="0"/>
                <a:cs typeface="Times New Roman" panose="02020603050405020304" pitchFamily="18" charset="0"/>
              </a:rPr>
              <a:t>th</a:t>
            </a:r>
            <a:r>
              <a:rPr lang="en-IN" sz="1400" b="1" dirty="0">
                <a:latin typeface="Times New Roman" panose="02020603050405020304" pitchFamily="18" charset="0"/>
                <a:cs typeface="Times New Roman" panose="02020603050405020304" pitchFamily="18" charset="0"/>
              </a:rPr>
              <a:t> MARCH, 2025</a:t>
            </a:r>
          </a:p>
        </p:txBody>
      </p:sp>
    </p:spTree>
    <p:extLst>
      <p:ext uri="{BB962C8B-B14F-4D97-AF65-F5344CB8AC3E}">
        <p14:creationId xmlns:p14="http://schemas.microsoft.com/office/powerpoint/2010/main" val="33198872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228725"/>
          </a:xfrm>
          <a:solidFill>
            <a:schemeClr val="accent2">
              <a:alpha val="36000"/>
            </a:schemeClr>
          </a:solidFill>
        </p:spPr>
        <p:txBody>
          <a:bodyPr>
            <a:normAutofit/>
          </a:bodyPr>
          <a:lstStyle/>
          <a:p>
            <a:pPr algn="ctr"/>
            <a:r>
              <a:rPr lang="en-US" sz="3600" b="1" dirty="0">
                <a:latin typeface="Times New Roman" panose="02020603050405020304" pitchFamily="18" charset="0"/>
                <a:cs typeface="Times New Roman" panose="02020603050405020304" pitchFamily="18" charset="0"/>
              </a:rPr>
              <a:t>CHALLENGES &amp; LIMITATIONS</a:t>
            </a:r>
            <a:endParaRPr lang="en-IN" sz="3600" b="1" dirty="0">
              <a:latin typeface="Times New Roman" panose="02020603050405020304" pitchFamily="18" charset="0"/>
              <a:cs typeface="Times New Roman" panose="02020603050405020304" pitchFamily="18" charset="0"/>
            </a:endParaRPr>
          </a:p>
        </p:txBody>
      </p:sp>
      <p:sp>
        <p:nvSpPr>
          <p:cNvPr id="4" name="Content Placeholder 2"/>
          <p:cNvSpPr>
            <a:spLocks noGrp="1"/>
          </p:cNvSpPr>
          <p:nvPr>
            <p:ph idx="1"/>
          </p:nvPr>
        </p:nvSpPr>
        <p:spPr>
          <a:xfrm>
            <a:off x="0" y="1228725"/>
            <a:ext cx="12306300" cy="5629275"/>
          </a:xfrm>
        </p:spPr>
        <p:txBody>
          <a:bodyPr/>
          <a:lstStyle/>
          <a:p>
            <a:r>
              <a:rPr lang="en-US" sz="3200" dirty="0">
                <a:latin typeface="Times New Roman" panose="02020603050405020304" pitchFamily="18" charset="0"/>
                <a:cs typeface="Times New Roman" panose="02020603050405020304" pitchFamily="18" charset="0"/>
              </a:rPr>
              <a:t>This survey was done with an extremely small sample size, namely 76 respondents. After processing, only 74 samples could be used. </a:t>
            </a:r>
          </a:p>
          <a:p>
            <a:r>
              <a:rPr lang="en-US" sz="3200" dirty="0">
                <a:latin typeface="Times New Roman" panose="02020603050405020304" pitchFamily="18" charset="0"/>
                <a:cs typeface="Times New Roman" panose="02020603050405020304" pitchFamily="18" charset="0"/>
              </a:rPr>
              <a:t>The studies done on the data obtained are all inferential, and the results cannot be spoken about without acknowledging that a small sample size decreases the representative power of the inferences.</a:t>
            </a:r>
          </a:p>
          <a:p>
            <a:r>
              <a:rPr lang="en-US" sz="3200" dirty="0">
                <a:latin typeface="Times New Roman" panose="02020603050405020304" pitchFamily="18" charset="0"/>
                <a:cs typeface="Times New Roman" panose="02020603050405020304" pitchFamily="18" charset="0"/>
              </a:rPr>
              <a:t>The survey also consists primarily of respondents who use gen AI tools, and while this might be due to similar underlying proportions in the population, small sample size prevents us from making that assumption.</a:t>
            </a:r>
          </a:p>
        </p:txBody>
      </p:sp>
      <p:sp>
        <p:nvSpPr>
          <p:cNvPr id="5" name="Footer Placeholder 9"/>
          <p:cNvSpPr>
            <a:spLocks noGrp="1"/>
          </p:cNvSpPr>
          <p:nvPr>
            <p:ph type="ftr" sz="quarter" idx="11"/>
          </p:nvPr>
        </p:nvSpPr>
        <p:spPr>
          <a:xfrm>
            <a:off x="0" y="6265862"/>
            <a:ext cx="12192000" cy="592138"/>
          </a:xfrm>
          <a:gradFill flip="none" rotWithShape="1">
            <a:gsLst>
              <a:gs pos="0">
                <a:schemeClr val="accent2">
                  <a:lumMod val="0"/>
                  <a:lumOff val="100000"/>
                </a:schemeClr>
              </a:gs>
              <a:gs pos="9000">
                <a:schemeClr val="accent2">
                  <a:lumMod val="92000"/>
                  <a:lumOff val="8000"/>
                  <a:alpha val="94000"/>
                </a:schemeClr>
              </a:gs>
              <a:gs pos="100000">
                <a:schemeClr val="accent2">
                  <a:lumMod val="60000"/>
                </a:schemeClr>
              </a:gs>
            </a:gsLst>
            <a:path path="circle">
              <a:fillToRect l="50000" t="130000" r="50000" b="-30000"/>
            </a:path>
            <a:tileRect/>
          </a:gradFill>
        </p:spPr>
        <p:txBody>
          <a:bodyPr/>
          <a:lstStyle/>
          <a:p>
            <a:r>
              <a:rPr lang="en-IN" b="1" dirty="0">
                <a:solidFill>
                  <a:schemeClr val="tx1"/>
                </a:solidFill>
                <a:latin typeface="Times New Roman" panose="02020603050405020304" pitchFamily="18" charset="0"/>
                <a:cs typeface="Times New Roman" panose="02020603050405020304" pitchFamily="18" charset="0"/>
              </a:rPr>
              <a:t>INTERNATIONAL CONFERENCE ON CURRENT TRENDS IN INFORMATION TECHNOLOGY (ICCTIT-2025)</a:t>
            </a:r>
            <a:endParaRPr lang="en-IN" dirty="0">
              <a:solidFill>
                <a:schemeClr val="tx1"/>
              </a:solidFill>
            </a:endParaRPr>
          </a:p>
        </p:txBody>
      </p:sp>
      <p:sp>
        <p:nvSpPr>
          <p:cNvPr id="3" name="Slide Number Placeholder 2"/>
          <p:cNvSpPr>
            <a:spLocks noGrp="1"/>
          </p:cNvSpPr>
          <p:nvPr>
            <p:ph type="sldNum" sz="quarter" idx="12"/>
          </p:nvPr>
        </p:nvSpPr>
        <p:spPr/>
        <p:txBody>
          <a:bodyPr/>
          <a:lstStyle/>
          <a:p>
            <a:fld id="{069A66BF-523A-4823-845B-291A06923E4B}" type="slidenum">
              <a:rPr lang="en-IN" smtClean="0">
                <a:solidFill>
                  <a:schemeClr val="tx1"/>
                </a:solidFill>
              </a:rPr>
              <a:t>11</a:t>
            </a:fld>
            <a:endParaRPr lang="en-IN" dirty="0">
              <a:solidFill>
                <a:schemeClr val="tx1"/>
              </a:solidFill>
            </a:endParaRPr>
          </a:p>
        </p:txBody>
      </p:sp>
      <p:sp>
        <p:nvSpPr>
          <p:cNvPr id="6" name="Rectangle 5"/>
          <p:cNvSpPr/>
          <p:nvPr/>
        </p:nvSpPr>
        <p:spPr>
          <a:xfrm>
            <a:off x="-1" y="6300321"/>
            <a:ext cx="1664238" cy="523220"/>
          </a:xfrm>
          <a:prstGeom prst="rect">
            <a:avLst/>
          </a:prstGeom>
        </p:spPr>
        <p:txBody>
          <a:bodyPr wrap="none">
            <a:spAutoFit/>
          </a:bodyPr>
          <a:lstStyle/>
          <a:p>
            <a:pPr algn="ctr"/>
            <a:r>
              <a:rPr lang="en-US" sz="1400" b="1" dirty="0">
                <a:latin typeface="Times New Roman" panose="02020603050405020304" pitchFamily="18" charset="0"/>
                <a:cs typeface="Times New Roman" panose="02020603050405020304" pitchFamily="18" charset="0"/>
              </a:rPr>
              <a:t>Date:</a:t>
            </a:r>
            <a:endParaRPr lang="en-IN" sz="1400" b="1" dirty="0">
              <a:latin typeface="Times New Roman" panose="02020603050405020304" pitchFamily="18" charset="0"/>
              <a:cs typeface="Times New Roman" panose="02020603050405020304" pitchFamily="18" charset="0"/>
            </a:endParaRPr>
          </a:p>
          <a:p>
            <a:r>
              <a:rPr lang="en-IN" sz="1400" b="1" dirty="0">
                <a:latin typeface="Times New Roman" panose="02020603050405020304" pitchFamily="18" charset="0"/>
                <a:cs typeface="Times New Roman" panose="02020603050405020304" pitchFamily="18" charset="0"/>
              </a:rPr>
              <a:t>10</a:t>
            </a:r>
            <a:r>
              <a:rPr lang="en-IN" sz="1400" b="1" baseline="30000" dirty="0">
                <a:latin typeface="Times New Roman" panose="02020603050405020304" pitchFamily="18" charset="0"/>
                <a:cs typeface="Times New Roman" panose="02020603050405020304" pitchFamily="18" charset="0"/>
              </a:rPr>
              <a:t>th</a:t>
            </a:r>
            <a:r>
              <a:rPr lang="en-IN" sz="1400" b="1" dirty="0">
                <a:latin typeface="Times New Roman" panose="02020603050405020304" pitchFamily="18" charset="0"/>
                <a:cs typeface="Times New Roman" panose="02020603050405020304" pitchFamily="18" charset="0"/>
              </a:rPr>
              <a:t> MARCH, 2025</a:t>
            </a:r>
          </a:p>
        </p:txBody>
      </p:sp>
    </p:spTree>
    <p:extLst>
      <p:ext uri="{BB962C8B-B14F-4D97-AF65-F5344CB8AC3E}">
        <p14:creationId xmlns:p14="http://schemas.microsoft.com/office/powerpoint/2010/main" val="24251626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228725"/>
          </a:xfrm>
          <a:solidFill>
            <a:schemeClr val="accent2">
              <a:alpha val="36000"/>
            </a:schemeClr>
          </a:solidFill>
        </p:spPr>
        <p:txBody>
          <a:bodyPr>
            <a:normAutofit/>
          </a:bodyPr>
          <a:lstStyle/>
          <a:p>
            <a:pPr algn="ctr"/>
            <a:r>
              <a:rPr lang="fr-FR" sz="3600" b="1" dirty="0">
                <a:latin typeface="Times New Roman" panose="02020603050405020304" pitchFamily="18" charset="0"/>
                <a:cs typeface="Times New Roman" panose="02020603050405020304" pitchFamily="18" charset="0"/>
              </a:rPr>
              <a:t>FUTURE ENHANCEMENT</a:t>
            </a:r>
            <a:endParaRPr lang="en-IN" sz="3600" b="1" dirty="0">
              <a:latin typeface="Times New Roman" panose="02020603050405020304" pitchFamily="18" charset="0"/>
              <a:cs typeface="Times New Roman" panose="02020603050405020304" pitchFamily="18" charset="0"/>
            </a:endParaRPr>
          </a:p>
        </p:txBody>
      </p:sp>
      <p:sp>
        <p:nvSpPr>
          <p:cNvPr id="4" name="Content Placeholder 2"/>
          <p:cNvSpPr>
            <a:spLocks noGrp="1"/>
          </p:cNvSpPr>
          <p:nvPr>
            <p:ph idx="1"/>
          </p:nvPr>
        </p:nvSpPr>
        <p:spPr>
          <a:xfrm>
            <a:off x="0" y="1228725"/>
            <a:ext cx="12306300" cy="5629275"/>
          </a:xfrm>
        </p:spPr>
        <p:txBody>
          <a:bodyPr/>
          <a:lstStyle/>
          <a:p>
            <a:r>
              <a:rPr lang="en-US" sz="3200" dirty="0">
                <a:latin typeface="Times New Roman" panose="02020603050405020304" pitchFamily="18" charset="0"/>
                <a:cs typeface="Times New Roman" panose="02020603050405020304" pitchFamily="18" charset="0"/>
              </a:rPr>
              <a:t>Further enhancement of this research can be done by collecting a larger sample of respondents to verify the inferences made by this paper and to make more valid, actionable conclusions.</a:t>
            </a:r>
          </a:p>
          <a:p>
            <a:r>
              <a:rPr lang="en-US" sz="3200" dirty="0">
                <a:latin typeface="Times New Roman" panose="02020603050405020304" pitchFamily="18" charset="0"/>
                <a:cs typeface="Times New Roman" panose="02020603050405020304" pitchFamily="18" charset="0"/>
              </a:rPr>
              <a:t>While this study targets urban upper-middle-class respondents, a broader survey may be useful in capturing the accessibility of AI tools by measuring ease of use and general attitude of respondents.</a:t>
            </a:r>
          </a:p>
          <a:p>
            <a:r>
              <a:rPr lang="en-US" sz="3200" dirty="0">
                <a:latin typeface="Times New Roman" panose="02020603050405020304" pitchFamily="18" charset="0"/>
                <a:cs typeface="Times New Roman" panose="02020603050405020304" pitchFamily="18" charset="0"/>
              </a:rPr>
              <a:t>Studies such as the one conducted in this paper are important to assess the attitudes of users towards new technology, especially when conducted in lesser-privileged groups to understand where further research in the field should be directed.</a:t>
            </a:r>
            <a:endParaRPr lang="en-US" sz="2400" i="1" dirty="0">
              <a:latin typeface="Times New Roman" panose="02020603050405020304" pitchFamily="18" charset="0"/>
              <a:cs typeface="Times New Roman" panose="02020603050405020304" pitchFamily="18" charset="0"/>
            </a:endParaRPr>
          </a:p>
          <a:p>
            <a:pPr marL="914400" lvl="2" indent="0">
              <a:buNone/>
            </a:pPr>
            <a:endParaRPr lang="en-IN" dirty="0">
              <a:latin typeface="Arial" panose="020B0604020202020204" pitchFamily="34" charset="0"/>
              <a:cs typeface="Arial" panose="020B0604020202020204" pitchFamily="34" charset="0"/>
            </a:endParaRPr>
          </a:p>
        </p:txBody>
      </p:sp>
      <p:sp>
        <p:nvSpPr>
          <p:cNvPr id="5" name="Footer Placeholder 9"/>
          <p:cNvSpPr>
            <a:spLocks noGrp="1"/>
          </p:cNvSpPr>
          <p:nvPr>
            <p:ph type="ftr" sz="quarter" idx="11"/>
          </p:nvPr>
        </p:nvSpPr>
        <p:spPr>
          <a:xfrm>
            <a:off x="0" y="6265862"/>
            <a:ext cx="12192000" cy="592138"/>
          </a:xfrm>
          <a:gradFill flip="none" rotWithShape="1">
            <a:gsLst>
              <a:gs pos="0">
                <a:schemeClr val="accent2">
                  <a:lumMod val="0"/>
                  <a:lumOff val="100000"/>
                </a:schemeClr>
              </a:gs>
              <a:gs pos="9000">
                <a:schemeClr val="accent2">
                  <a:lumMod val="92000"/>
                  <a:lumOff val="8000"/>
                  <a:alpha val="94000"/>
                </a:schemeClr>
              </a:gs>
              <a:gs pos="100000">
                <a:schemeClr val="accent2">
                  <a:lumMod val="60000"/>
                </a:schemeClr>
              </a:gs>
            </a:gsLst>
            <a:path path="circle">
              <a:fillToRect l="50000" t="130000" r="50000" b="-30000"/>
            </a:path>
            <a:tileRect/>
          </a:gradFill>
        </p:spPr>
        <p:txBody>
          <a:bodyPr/>
          <a:lstStyle/>
          <a:p>
            <a:r>
              <a:rPr lang="en-IN" b="1" dirty="0">
                <a:solidFill>
                  <a:schemeClr val="tx1"/>
                </a:solidFill>
                <a:latin typeface="Times New Roman" panose="02020603050405020304" pitchFamily="18" charset="0"/>
                <a:cs typeface="Times New Roman" panose="02020603050405020304" pitchFamily="18" charset="0"/>
              </a:rPr>
              <a:t>INTERNATIONAL CONFERENCE ON CURRENT TRENDS IN INFORMATION TECHNOLOGY (ICCTIT-2025)</a:t>
            </a:r>
            <a:endParaRPr lang="en-IN" dirty="0">
              <a:solidFill>
                <a:schemeClr val="tx1"/>
              </a:solidFill>
            </a:endParaRPr>
          </a:p>
        </p:txBody>
      </p:sp>
      <p:sp>
        <p:nvSpPr>
          <p:cNvPr id="3" name="Slide Number Placeholder 2"/>
          <p:cNvSpPr>
            <a:spLocks noGrp="1"/>
          </p:cNvSpPr>
          <p:nvPr>
            <p:ph type="sldNum" sz="quarter" idx="12"/>
          </p:nvPr>
        </p:nvSpPr>
        <p:spPr/>
        <p:txBody>
          <a:bodyPr/>
          <a:lstStyle/>
          <a:p>
            <a:fld id="{069A66BF-523A-4823-845B-291A06923E4B}" type="slidenum">
              <a:rPr lang="en-IN" smtClean="0">
                <a:solidFill>
                  <a:schemeClr val="tx1"/>
                </a:solidFill>
              </a:rPr>
              <a:t>12</a:t>
            </a:fld>
            <a:endParaRPr lang="en-IN" dirty="0">
              <a:solidFill>
                <a:schemeClr val="tx1"/>
              </a:solidFill>
            </a:endParaRPr>
          </a:p>
        </p:txBody>
      </p:sp>
      <p:sp>
        <p:nvSpPr>
          <p:cNvPr id="6" name="Rectangle 5"/>
          <p:cNvSpPr/>
          <p:nvPr/>
        </p:nvSpPr>
        <p:spPr>
          <a:xfrm>
            <a:off x="-1" y="6300321"/>
            <a:ext cx="1664238" cy="523220"/>
          </a:xfrm>
          <a:prstGeom prst="rect">
            <a:avLst/>
          </a:prstGeom>
        </p:spPr>
        <p:txBody>
          <a:bodyPr wrap="none">
            <a:spAutoFit/>
          </a:bodyPr>
          <a:lstStyle/>
          <a:p>
            <a:pPr algn="ctr"/>
            <a:r>
              <a:rPr lang="en-US" sz="1400" b="1" dirty="0">
                <a:latin typeface="Times New Roman" panose="02020603050405020304" pitchFamily="18" charset="0"/>
                <a:cs typeface="Times New Roman" panose="02020603050405020304" pitchFamily="18" charset="0"/>
              </a:rPr>
              <a:t>Date:</a:t>
            </a:r>
            <a:endParaRPr lang="en-IN" sz="1400" b="1" dirty="0">
              <a:latin typeface="Times New Roman" panose="02020603050405020304" pitchFamily="18" charset="0"/>
              <a:cs typeface="Times New Roman" panose="02020603050405020304" pitchFamily="18" charset="0"/>
            </a:endParaRPr>
          </a:p>
          <a:p>
            <a:r>
              <a:rPr lang="en-IN" sz="1400" b="1" dirty="0">
                <a:latin typeface="Times New Roman" panose="02020603050405020304" pitchFamily="18" charset="0"/>
                <a:cs typeface="Times New Roman" panose="02020603050405020304" pitchFamily="18" charset="0"/>
              </a:rPr>
              <a:t>10</a:t>
            </a:r>
            <a:r>
              <a:rPr lang="en-IN" sz="1400" b="1" baseline="30000" dirty="0">
                <a:latin typeface="Times New Roman" panose="02020603050405020304" pitchFamily="18" charset="0"/>
                <a:cs typeface="Times New Roman" panose="02020603050405020304" pitchFamily="18" charset="0"/>
              </a:rPr>
              <a:t>th</a:t>
            </a:r>
            <a:r>
              <a:rPr lang="en-IN" sz="1400" b="1" dirty="0">
                <a:latin typeface="Times New Roman" panose="02020603050405020304" pitchFamily="18" charset="0"/>
                <a:cs typeface="Times New Roman" panose="02020603050405020304" pitchFamily="18" charset="0"/>
              </a:rPr>
              <a:t> MARCH, 2025</a:t>
            </a:r>
          </a:p>
        </p:txBody>
      </p:sp>
    </p:spTree>
    <p:extLst>
      <p:ext uri="{BB962C8B-B14F-4D97-AF65-F5344CB8AC3E}">
        <p14:creationId xmlns:p14="http://schemas.microsoft.com/office/powerpoint/2010/main" val="29659336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228725"/>
          </a:xfrm>
          <a:solidFill>
            <a:schemeClr val="accent2">
              <a:alpha val="36000"/>
            </a:schemeClr>
          </a:solidFill>
        </p:spPr>
        <p:txBody>
          <a:bodyPr>
            <a:normAutofit/>
          </a:bodyPr>
          <a:lstStyle/>
          <a:p>
            <a:pPr algn="ctr"/>
            <a:r>
              <a:rPr lang="en-US" sz="3600" b="1" dirty="0">
                <a:latin typeface="Times New Roman" panose="02020603050405020304" pitchFamily="18" charset="0"/>
                <a:cs typeface="Times New Roman" panose="02020603050405020304" pitchFamily="18" charset="0"/>
              </a:rPr>
              <a:t>CONCLUSION</a:t>
            </a:r>
            <a:endParaRPr lang="en-IN" sz="3600" b="1" dirty="0">
              <a:latin typeface="Times New Roman" panose="02020603050405020304" pitchFamily="18" charset="0"/>
              <a:cs typeface="Times New Roman" panose="02020603050405020304" pitchFamily="18" charset="0"/>
            </a:endParaRPr>
          </a:p>
        </p:txBody>
      </p:sp>
      <p:sp>
        <p:nvSpPr>
          <p:cNvPr id="4" name="Content Placeholder 2"/>
          <p:cNvSpPr>
            <a:spLocks noGrp="1"/>
          </p:cNvSpPr>
          <p:nvPr>
            <p:ph idx="1"/>
          </p:nvPr>
        </p:nvSpPr>
        <p:spPr>
          <a:xfrm>
            <a:off x="0" y="1228725"/>
            <a:ext cx="12306300" cy="5629275"/>
          </a:xfrm>
        </p:spPr>
        <p:txBody>
          <a:bodyPr>
            <a:normAutofit/>
          </a:bodyPr>
          <a:lstStyle/>
          <a:p>
            <a:pPr>
              <a:lnSpc>
                <a:spcPct val="100000"/>
              </a:lnSpc>
            </a:pPr>
            <a:r>
              <a:rPr lang="en-US" sz="3200" dirty="0">
                <a:latin typeface="Times New Roman" panose="02020603050405020304" pitchFamily="18" charset="0"/>
                <a:cs typeface="Times New Roman" panose="02020603050405020304" pitchFamily="18" charset="0"/>
              </a:rPr>
              <a:t>The study finds most respondents to be GenAI users, and most GenAI users to be frequent users. </a:t>
            </a:r>
          </a:p>
          <a:p>
            <a:pPr>
              <a:lnSpc>
                <a:spcPct val="100000"/>
              </a:lnSpc>
            </a:pPr>
            <a:r>
              <a:rPr lang="en-US" sz="3200" dirty="0">
                <a:latin typeface="Times New Roman" panose="02020603050405020304" pitchFamily="18" charset="0"/>
                <a:cs typeface="Times New Roman" panose="02020603050405020304" pitchFamily="18" charset="0"/>
              </a:rPr>
              <a:t>However, demographic factors such as gender and age group have some connection with the respondents’ opinions on GenAI.</a:t>
            </a:r>
          </a:p>
          <a:p>
            <a:pPr>
              <a:lnSpc>
                <a:spcPct val="100000"/>
              </a:lnSpc>
            </a:pPr>
            <a:r>
              <a:rPr lang="en-US" sz="3200" dirty="0">
                <a:latin typeface="Times New Roman" panose="02020603050405020304" pitchFamily="18" charset="0"/>
                <a:cs typeface="Times New Roman" panose="02020603050405020304" pitchFamily="18" charset="0"/>
              </a:rPr>
              <a:t>Interestingly, we find that trust in AI generated responses does not have any positive effect on usage of GenAI tools.</a:t>
            </a:r>
          </a:p>
          <a:p>
            <a:pPr>
              <a:lnSpc>
                <a:spcPct val="100000"/>
              </a:lnSpc>
            </a:pPr>
            <a:r>
              <a:rPr lang="en-US" sz="3200" dirty="0">
                <a:latin typeface="Times New Roman" panose="02020603050405020304" pitchFamily="18" charset="0"/>
                <a:cs typeface="Times New Roman" panose="02020603050405020304" pitchFamily="18" charset="0"/>
              </a:rPr>
              <a:t>We also find that respondents above 55 years of age tend to find AI less easy to use, and also are more likely to believe that AI negatively impacts society.</a:t>
            </a:r>
          </a:p>
          <a:p>
            <a:pPr>
              <a:lnSpc>
                <a:spcPct val="100000"/>
              </a:lnSpc>
            </a:pPr>
            <a:endParaRPr lang="en-IN" dirty="0">
              <a:latin typeface="Arial" panose="020B0604020202020204" pitchFamily="34" charset="0"/>
              <a:cs typeface="Arial" panose="020B0604020202020204" pitchFamily="34" charset="0"/>
            </a:endParaRPr>
          </a:p>
        </p:txBody>
      </p:sp>
      <p:sp>
        <p:nvSpPr>
          <p:cNvPr id="5" name="Footer Placeholder 9"/>
          <p:cNvSpPr>
            <a:spLocks noGrp="1"/>
          </p:cNvSpPr>
          <p:nvPr>
            <p:ph type="ftr" sz="quarter" idx="11"/>
          </p:nvPr>
        </p:nvSpPr>
        <p:spPr>
          <a:xfrm>
            <a:off x="0" y="6265862"/>
            <a:ext cx="12192000" cy="592138"/>
          </a:xfrm>
          <a:gradFill flip="none" rotWithShape="1">
            <a:gsLst>
              <a:gs pos="0">
                <a:schemeClr val="accent2">
                  <a:lumMod val="0"/>
                  <a:lumOff val="100000"/>
                </a:schemeClr>
              </a:gs>
              <a:gs pos="9000">
                <a:schemeClr val="accent2">
                  <a:lumMod val="92000"/>
                  <a:lumOff val="8000"/>
                  <a:alpha val="94000"/>
                </a:schemeClr>
              </a:gs>
              <a:gs pos="100000">
                <a:schemeClr val="accent2">
                  <a:lumMod val="60000"/>
                </a:schemeClr>
              </a:gs>
            </a:gsLst>
            <a:path path="circle">
              <a:fillToRect l="50000" t="130000" r="50000" b="-30000"/>
            </a:path>
            <a:tileRect/>
          </a:gradFill>
        </p:spPr>
        <p:txBody>
          <a:bodyPr/>
          <a:lstStyle/>
          <a:p>
            <a:r>
              <a:rPr lang="en-IN" b="1" dirty="0">
                <a:solidFill>
                  <a:schemeClr val="tx1"/>
                </a:solidFill>
                <a:latin typeface="Times New Roman" panose="02020603050405020304" pitchFamily="18" charset="0"/>
                <a:cs typeface="Times New Roman" panose="02020603050405020304" pitchFamily="18" charset="0"/>
              </a:rPr>
              <a:t>INTERNATIONAL CONFERENCE ON CURRENT TRENDS IN INFORMATION TECHNOLOGY (ICCTIT-2025)</a:t>
            </a:r>
            <a:endParaRPr lang="en-IN" dirty="0">
              <a:solidFill>
                <a:schemeClr val="tx1"/>
              </a:solidFill>
            </a:endParaRPr>
          </a:p>
        </p:txBody>
      </p:sp>
      <p:sp>
        <p:nvSpPr>
          <p:cNvPr id="3" name="Slide Number Placeholder 2"/>
          <p:cNvSpPr>
            <a:spLocks noGrp="1"/>
          </p:cNvSpPr>
          <p:nvPr>
            <p:ph type="sldNum" sz="quarter" idx="12"/>
          </p:nvPr>
        </p:nvSpPr>
        <p:spPr/>
        <p:txBody>
          <a:bodyPr/>
          <a:lstStyle/>
          <a:p>
            <a:fld id="{069A66BF-523A-4823-845B-291A06923E4B}" type="slidenum">
              <a:rPr lang="en-IN" smtClean="0">
                <a:solidFill>
                  <a:schemeClr val="tx1"/>
                </a:solidFill>
              </a:rPr>
              <a:t>13</a:t>
            </a:fld>
            <a:endParaRPr lang="en-IN" dirty="0">
              <a:solidFill>
                <a:schemeClr val="tx1"/>
              </a:solidFill>
            </a:endParaRPr>
          </a:p>
        </p:txBody>
      </p:sp>
      <p:sp>
        <p:nvSpPr>
          <p:cNvPr id="6" name="Rectangle 5"/>
          <p:cNvSpPr/>
          <p:nvPr/>
        </p:nvSpPr>
        <p:spPr>
          <a:xfrm>
            <a:off x="-1" y="6300321"/>
            <a:ext cx="1664238" cy="523220"/>
          </a:xfrm>
          <a:prstGeom prst="rect">
            <a:avLst/>
          </a:prstGeom>
        </p:spPr>
        <p:txBody>
          <a:bodyPr wrap="none">
            <a:spAutoFit/>
          </a:bodyPr>
          <a:lstStyle/>
          <a:p>
            <a:pPr algn="ctr"/>
            <a:r>
              <a:rPr lang="en-US" sz="1400" b="1" dirty="0">
                <a:latin typeface="Times New Roman" panose="02020603050405020304" pitchFamily="18" charset="0"/>
                <a:cs typeface="Times New Roman" panose="02020603050405020304" pitchFamily="18" charset="0"/>
              </a:rPr>
              <a:t>Date:</a:t>
            </a:r>
            <a:endParaRPr lang="en-IN" sz="1400" b="1" dirty="0">
              <a:latin typeface="Times New Roman" panose="02020603050405020304" pitchFamily="18" charset="0"/>
              <a:cs typeface="Times New Roman" panose="02020603050405020304" pitchFamily="18" charset="0"/>
            </a:endParaRPr>
          </a:p>
          <a:p>
            <a:r>
              <a:rPr lang="en-IN" sz="1400" b="1" dirty="0">
                <a:latin typeface="Times New Roman" panose="02020603050405020304" pitchFamily="18" charset="0"/>
                <a:cs typeface="Times New Roman" panose="02020603050405020304" pitchFamily="18" charset="0"/>
              </a:rPr>
              <a:t>10</a:t>
            </a:r>
            <a:r>
              <a:rPr lang="en-IN" sz="1400" b="1" baseline="30000" dirty="0">
                <a:latin typeface="Times New Roman" panose="02020603050405020304" pitchFamily="18" charset="0"/>
                <a:cs typeface="Times New Roman" panose="02020603050405020304" pitchFamily="18" charset="0"/>
              </a:rPr>
              <a:t>th</a:t>
            </a:r>
            <a:r>
              <a:rPr lang="en-IN" sz="1400" b="1" dirty="0">
                <a:latin typeface="Times New Roman" panose="02020603050405020304" pitchFamily="18" charset="0"/>
                <a:cs typeface="Times New Roman" panose="02020603050405020304" pitchFamily="18" charset="0"/>
              </a:rPr>
              <a:t> MARCH, 2025</a:t>
            </a:r>
          </a:p>
        </p:txBody>
      </p:sp>
    </p:spTree>
    <p:extLst>
      <p:ext uri="{BB962C8B-B14F-4D97-AF65-F5344CB8AC3E}">
        <p14:creationId xmlns:p14="http://schemas.microsoft.com/office/powerpoint/2010/main" val="36664756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228725"/>
          </a:xfrm>
          <a:solidFill>
            <a:schemeClr val="accent2">
              <a:alpha val="36000"/>
            </a:schemeClr>
          </a:solidFill>
        </p:spPr>
        <p:txBody>
          <a:bodyPr>
            <a:normAutofit/>
          </a:bodyPr>
          <a:lstStyle/>
          <a:p>
            <a:pPr algn="ctr"/>
            <a:r>
              <a:rPr lang="en-US" sz="3600" b="1" dirty="0">
                <a:latin typeface="Times New Roman" panose="02020603050405020304" pitchFamily="18" charset="0"/>
                <a:cs typeface="Times New Roman" panose="02020603050405020304" pitchFamily="18" charset="0"/>
              </a:rPr>
              <a:t>REFERENCES </a:t>
            </a:r>
            <a:endParaRPr lang="en-IN" sz="3600" b="1" dirty="0">
              <a:latin typeface="Times New Roman" panose="02020603050405020304" pitchFamily="18" charset="0"/>
              <a:cs typeface="Times New Roman" panose="02020603050405020304" pitchFamily="18" charset="0"/>
            </a:endParaRPr>
          </a:p>
        </p:txBody>
      </p:sp>
      <p:sp>
        <p:nvSpPr>
          <p:cNvPr id="4" name="Content Placeholder 2"/>
          <p:cNvSpPr>
            <a:spLocks noGrp="1"/>
          </p:cNvSpPr>
          <p:nvPr>
            <p:ph idx="1"/>
          </p:nvPr>
        </p:nvSpPr>
        <p:spPr>
          <a:xfrm>
            <a:off x="0" y="1228725"/>
            <a:ext cx="12143014" cy="5629275"/>
          </a:xfrm>
        </p:spPr>
        <p:txBody>
          <a:bodyPr>
            <a:normAutofit/>
          </a:bodyPr>
          <a:lstStyle/>
          <a:p>
            <a:r>
              <a:rPr lang="en-US" dirty="0">
                <a:latin typeface="Times New Roman" panose="02020603050405020304" pitchFamily="18" charset="0"/>
                <a:cs typeface="Times New Roman" panose="02020603050405020304" pitchFamily="18" charset="0"/>
              </a:rPr>
              <a:t>[1] Davis, F. D. (1989). Perceived usefulness, perceived ease of use, and user acceptance of information technology. MIS Quarterly, 13(3), 319-340.</a:t>
            </a:r>
          </a:p>
          <a:p>
            <a:r>
              <a:rPr lang="en-US" dirty="0">
                <a:latin typeface="Times New Roman" panose="02020603050405020304" pitchFamily="18" charset="0"/>
                <a:cs typeface="Times New Roman" panose="02020603050405020304" pitchFamily="18" charset="0"/>
              </a:rPr>
              <a:t>[2] Venkatesh, V., Morris, M. G., Davis, G. B., &amp; Davis, F. D. (2003). User acceptance of information technology: Toward a unified view. MIS Quarterly, 27(3), 425-478.</a:t>
            </a:r>
          </a:p>
          <a:p>
            <a:r>
              <a:rPr lang="en-US" dirty="0">
                <a:latin typeface="Times New Roman" panose="02020603050405020304" pitchFamily="18" charset="0"/>
                <a:cs typeface="Times New Roman" panose="02020603050405020304" pitchFamily="18" charset="0"/>
              </a:rPr>
              <a:t>[3] Venkatesh, V., Thong, J. Y. L., &amp; Xu, X. (2012). Consumer acceptance and use of information technology: Extending the unified theory of acceptance and use of technology. MIS Quarterly, 36(1),157-178.</a:t>
            </a:r>
          </a:p>
          <a:p>
            <a:r>
              <a:rPr lang="en-US" dirty="0">
                <a:latin typeface="Times New Roman" panose="02020603050405020304" pitchFamily="18" charset="0"/>
                <a:cs typeface="Times New Roman" panose="02020603050405020304" pitchFamily="18" charset="0"/>
              </a:rPr>
              <a:t>[4] Goodhue, D. L., &amp; Thompson, R. L. (1995). Task-technology fit and individual performance. MIS Quarterly, 19(2), 213-236.</a:t>
            </a:r>
            <a:endParaRPr lang="en-IN" sz="2800" i="1" dirty="0">
              <a:latin typeface="Times New Roman" panose="02020603050405020304" pitchFamily="18" charset="0"/>
              <a:cs typeface="Times New Roman" panose="02020603050405020304" pitchFamily="18" charset="0"/>
            </a:endParaRPr>
          </a:p>
        </p:txBody>
      </p:sp>
      <p:sp>
        <p:nvSpPr>
          <p:cNvPr id="5" name="Footer Placeholder 9"/>
          <p:cNvSpPr>
            <a:spLocks noGrp="1"/>
          </p:cNvSpPr>
          <p:nvPr>
            <p:ph type="ftr" sz="quarter" idx="11"/>
          </p:nvPr>
        </p:nvSpPr>
        <p:spPr>
          <a:xfrm>
            <a:off x="0" y="6265862"/>
            <a:ext cx="12192000" cy="592138"/>
          </a:xfrm>
          <a:gradFill flip="none" rotWithShape="1">
            <a:gsLst>
              <a:gs pos="0">
                <a:schemeClr val="accent2">
                  <a:lumMod val="0"/>
                  <a:lumOff val="100000"/>
                </a:schemeClr>
              </a:gs>
              <a:gs pos="9000">
                <a:schemeClr val="accent2">
                  <a:lumMod val="92000"/>
                  <a:lumOff val="8000"/>
                  <a:alpha val="94000"/>
                </a:schemeClr>
              </a:gs>
              <a:gs pos="100000">
                <a:schemeClr val="accent2">
                  <a:lumMod val="60000"/>
                </a:schemeClr>
              </a:gs>
            </a:gsLst>
            <a:path path="circle">
              <a:fillToRect l="50000" t="130000" r="50000" b="-30000"/>
            </a:path>
            <a:tileRect/>
          </a:gradFill>
        </p:spPr>
        <p:txBody>
          <a:bodyPr/>
          <a:lstStyle/>
          <a:p>
            <a:r>
              <a:rPr lang="en-IN" b="1" dirty="0">
                <a:solidFill>
                  <a:schemeClr val="tx1"/>
                </a:solidFill>
                <a:latin typeface="Times New Roman" panose="02020603050405020304" pitchFamily="18" charset="0"/>
                <a:cs typeface="Times New Roman" panose="02020603050405020304" pitchFamily="18" charset="0"/>
              </a:rPr>
              <a:t>INTERNATIONAL CONFERENCE ON CURRENT TRENDS IN INFORMATION TECHNOLOGY (ICCTIT-2025)</a:t>
            </a:r>
            <a:endParaRPr lang="en-IN" dirty="0">
              <a:solidFill>
                <a:schemeClr val="tx1"/>
              </a:solidFill>
            </a:endParaRPr>
          </a:p>
        </p:txBody>
      </p:sp>
      <p:sp>
        <p:nvSpPr>
          <p:cNvPr id="3" name="Slide Number Placeholder 2"/>
          <p:cNvSpPr>
            <a:spLocks noGrp="1"/>
          </p:cNvSpPr>
          <p:nvPr>
            <p:ph type="sldNum" sz="quarter" idx="12"/>
          </p:nvPr>
        </p:nvSpPr>
        <p:spPr/>
        <p:txBody>
          <a:bodyPr/>
          <a:lstStyle/>
          <a:p>
            <a:fld id="{069A66BF-523A-4823-845B-291A06923E4B}" type="slidenum">
              <a:rPr lang="en-IN" smtClean="0">
                <a:solidFill>
                  <a:schemeClr val="tx1"/>
                </a:solidFill>
              </a:rPr>
              <a:t>14</a:t>
            </a:fld>
            <a:endParaRPr lang="en-IN" dirty="0">
              <a:solidFill>
                <a:schemeClr val="tx1"/>
              </a:solidFill>
            </a:endParaRPr>
          </a:p>
        </p:txBody>
      </p:sp>
      <p:sp>
        <p:nvSpPr>
          <p:cNvPr id="6" name="Rectangle 5"/>
          <p:cNvSpPr/>
          <p:nvPr/>
        </p:nvSpPr>
        <p:spPr>
          <a:xfrm>
            <a:off x="-1" y="6300321"/>
            <a:ext cx="1664238" cy="523220"/>
          </a:xfrm>
          <a:prstGeom prst="rect">
            <a:avLst/>
          </a:prstGeom>
        </p:spPr>
        <p:txBody>
          <a:bodyPr wrap="none">
            <a:spAutoFit/>
          </a:bodyPr>
          <a:lstStyle/>
          <a:p>
            <a:pPr algn="ctr"/>
            <a:r>
              <a:rPr lang="en-US" sz="1400" b="1" dirty="0">
                <a:latin typeface="Times New Roman" panose="02020603050405020304" pitchFamily="18" charset="0"/>
                <a:cs typeface="Times New Roman" panose="02020603050405020304" pitchFamily="18" charset="0"/>
              </a:rPr>
              <a:t>Date:</a:t>
            </a:r>
            <a:endParaRPr lang="en-IN" sz="1400" b="1" dirty="0">
              <a:latin typeface="Times New Roman" panose="02020603050405020304" pitchFamily="18" charset="0"/>
              <a:cs typeface="Times New Roman" panose="02020603050405020304" pitchFamily="18" charset="0"/>
            </a:endParaRPr>
          </a:p>
          <a:p>
            <a:r>
              <a:rPr lang="en-IN" sz="1400" b="1" dirty="0">
                <a:latin typeface="Times New Roman" panose="02020603050405020304" pitchFamily="18" charset="0"/>
                <a:cs typeface="Times New Roman" panose="02020603050405020304" pitchFamily="18" charset="0"/>
              </a:rPr>
              <a:t>10</a:t>
            </a:r>
            <a:r>
              <a:rPr lang="en-IN" sz="1400" b="1" baseline="30000" dirty="0">
                <a:latin typeface="Times New Roman" panose="02020603050405020304" pitchFamily="18" charset="0"/>
                <a:cs typeface="Times New Roman" panose="02020603050405020304" pitchFamily="18" charset="0"/>
              </a:rPr>
              <a:t>th</a:t>
            </a:r>
            <a:r>
              <a:rPr lang="en-IN" sz="1400" b="1" dirty="0">
                <a:latin typeface="Times New Roman" panose="02020603050405020304" pitchFamily="18" charset="0"/>
                <a:cs typeface="Times New Roman" panose="02020603050405020304" pitchFamily="18" charset="0"/>
              </a:rPr>
              <a:t> MARCH, 2025</a:t>
            </a:r>
          </a:p>
        </p:txBody>
      </p:sp>
    </p:spTree>
    <p:extLst>
      <p:ext uri="{BB962C8B-B14F-4D97-AF65-F5344CB8AC3E}">
        <p14:creationId xmlns:p14="http://schemas.microsoft.com/office/powerpoint/2010/main" val="40115331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228725"/>
          </a:xfrm>
          <a:solidFill>
            <a:schemeClr val="accent2">
              <a:alpha val="36000"/>
            </a:schemeClr>
          </a:solidFill>
        </p:spPr>
        <p:txBody>
          <a:bodyPr>
            <a:normAutofit/>
          </a:bodyPr>
          <a:lstStyle/>
          <a:p>
            <a:pPr algn="ctr"/>
            <a:r>
              <a:rPr lang="en-US" sz="3600" b="1" dirty="0">
                <a:latin typeface="Times New Roman" panose="02020603050405020304" pitchFamily="18" charset="0"/>
                <a:cs typeface="Times New Roman" panose="02020603050405020304" pitchFamily="18" charset="0"/>
              </a:rPr>
              <a:t>QUESTIONS AND ANSWERS</a:t>
            </a:r>
            <a:endParaRPr lang="en-IN" sz="3600" b="1" dirty="0">
              <a:latin typeface="Times New Roman" panose="02020603050405020304" pitchFamily="18" charset="0"/>
              <a:cs typeface="Times New Roman" panose="02020603050405020304" pitchFamily="18" charset="0"/>
            </a:endParaRPr>
          </a:p>
        </p:txBody>
      </p:sp>
      <p:sp>
        <p:nvSpPr>
          <p:cNvPr id="4" name="Content Placeholder 2"/>
          <p:cNvSpPr>
            <a:spLocks noGrp="1"/>
          </p:cNvSpPr>
          <p:nvPr>
            <p:ph idx="1"/>
          </p:nvPr>
        </p:nvSpPr>
        <p:spPr>
          <a:xfrm>
            <a:off x="0" y="1228725"/>
            <a:ext cx="12306300" cy="5629275"/>
          </a:xfrm>
        </p:spPr>
        <p:txBody>
          <a:bodyPr>
            <a:normAutofit/>
          </a:bodyPr>
          <a:lstStyle/>
          <a:p>
            <a:r>
              <a:rPr lang="en-IN" sz="2400" dirty="0">
                <a:latin typeface="Times New Roman" panose="02020603050405020304" pitchFamily="18" charset="0"/>
                <a:cs typeface="Times New Roman" panose="02020603050405020304" pitchFamily="18" charset="0"/>
              </a:rPr>
              <a:t>Thank You!</a:t>
            </a:r>
          </a:p>
          <a:p>
            <a:r>
              <a:rPr lang="en-IN" sz="2400" dirty="0">
                <a:latin typeface="Times New Roman" panose="02020603050405020304" pitchFamily="18" charset="0"/>
                <a:cs typeface="Times New Roman" panose="02020603050405020304" pitchFamily="18" charset="0"/>
              </a:rPr>
              <a:t>Audience questions are welcome </a:t>
            </a:r>
            <a:r>
              <a:rPr lang="en-IN" sz="2400" dirty="0">
                <a:latin typeface="Times New Roman" panose="02020603050405020304" pitchFamily="18" charset="0"/>
                <a:cs typeface="Times New Roman" panose="02020603050405020304" pitchFamily="18" charset="0"/>
                <a:sym typeface="Wingdings" panose="05000000000000000000" pitchFamily="2" charset="2"/>
              </a:rPr>
              <a:t></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Contact Information: </a:t>
            </a:r>
          </a:p>
          <a:p>
            <a:pPr lvl="1"/>
            <a:r>
              <a:rPr lang="en-IN" sz="2000" dirty="0">
                <a:latin typeface="Times New Roman" panose="02020603050405020304" pitchFamily="18" charset="0"/>
                <a:cs typeface="Times New Roman" panose="02020603050405020304" pitchFamily="18" charset="0"/>
              </a:rPr>
              <a:t>Krithika Kannan</a:t>
            </a:r>
          </a:p>
          <a:p>
            <a:pPr lvl="1"/>
            <a:r>
              <a:rPr lang="en-IN" sz="2000" dirty="0">
                <a:latin typeface="Times New Roman" panose="02020603050405020304" pitchFamily="18" charset="0"/>
                <a:cs typeface="Times New Roman" panose="02020603050405020304" pitchFamily="18" charset="0"/>
              </a:rPr>
              <a:t>Mobile No. : 9902115877</a:t>
            </a:r>
          </a:p>
          <a:p>
            <a:pPr lvl="1"/>
            <a:r>
              <a:rPr lang="en-IN" sz="2000" dirty="0">
                <a:latin typeface="Times New Roman" panose="02020603050405020304" pitchFamily="18" charset="0"/>
                <a:cs typeface="Times New Roman" panose="02020603050405020304" pitchFamily="18" charset="0"/>
              </a:rPr>
              <a:t>Email: krithika.kannan.13@gmail.com</a:t>
            </a:r>
          </a:p>
        </p:txBody>
      </p:sp>
      <p:sp>
        <p:nvSpPr>
          <p:cNvPr id="5" name="Footer Placeholder 9"/>
          <p:cNvSpPr>
            <a:spLocks noGrp="1"/>
          </p:cNvSpPr>
          <p:nvPr>
            <p:ph type="ftr" sz="quarter" idx="11"/>
          </p:nvPr>
        </p:nvSpPr>
        <p:spPr>
          <a:xfrm>
            <a:off x="0" y="6265862"/>
            <a:ext cx="12192000" cy="592138"/>
          </a:xfrm>
          <a:gradFill flip="none" rotWithShape="1">
            <a:gsLst>
              <a:gs pos="0">
                <a:schemeClr val="accent2">
                  <a:lumMod val="0"/>
                  <a:lumOff val="100000"/>
                </a:schemeClr>
              </a:gs>
              <a:gs pos="9000">
                <a:schemeClr val="accent2">
                  <a:lumMod val="92000"/>
                  <a:lumOff val="8000"/>
                  <a:alpha val="94000"/>
                </a:schemeClr>
              </a:gs>
              <a:gs pos="100000">
                <a:schemeClr val="accent2">
                  <a:lumMod val="60000"/>
                </a:schemeClr>
              </a:gs>
            </a:gsLst>
            <a:path path="circle">
              <a:fillToRect l="50000" t="130000" r="50000" b="-30000"/>
            </a:path>
            <a:tileRect/>
          </a:gradFill>
        </p:spPr>
        <p:txBody>
          <a:bodyPr/>
          <a:lstStyle/>
          <a:p>
            <a:r>
              <a:rPr lang="en-IN" b="1" dirty="0">
                <a:solidFill>
                  <a:schemeClr val="tx1"/>
                </a:solidFill>
                <a:latin typeface="Times New Roman" panose="02020603050405020304" pitchFamily="18" charset="0"/>
                <a:cs typeface="Times New Roman" panose="02020603050405020304" pitchFamily="18" charset="0"/>
              </a:rPr>
              <a:t>INTERNATIONAL CONFERENCE ON CURRENT TRENDS IN INFORMATION TECHNOLOGY (ICCTIT-2025)</a:t>
            </a:r>
            <a:endParaRPr lang="en-IN" dirty="0">
              <a:solidFill>
                <a:schemeClr val="tx1"/>
              </a:solidFill>
            </a:endParaRPr>
          </a:p>
        </p:txBody>
      </p:sp>
      <p:sp>
        <p:nvSpPr>
          <p:cNvPr id="3" name="Slide Number Placeholder 2"/>
          <p:cNvSpPr>
            <a:spLocks noGrp="1"/>
          </p:cNvSpPr>
          <p:nvPr>
            <p:ph type="sldNum" sz="quarter" idx="12"/>
          </p:nvPr>
        </p:nvSpPr>
        <p:spPr/>
        <p:txBody>
          <a:bodyPr/>
          <a:lstStyle/>
          <a:p>
            <a:fld id="{069A66BF-523A-4823-845B-291A06923E4B}" type="slidenum">
              <a:rPr lang="en-IN" smtClean="0">
                <a:solidFill>
                  <a:schemeClr val="tx1"/>
                </a:solidFill>
              </a:rPr>
              <a:t>15</a:t>
            </a:fld>
            <a:endParaRPr lang="en-IN" dirty="0">
              <a:solidFill>
                <a:schemeClr val="tx1"/>
              </a:solidFill>
            </a:endParaRPr>
          </a:p>
        </p:txBody>
      </p:sp>
      <p:sp>
        <p:nvSpPr>
          <p:cNvPr id="6" name="Rectangle 5"/>
          <p:cNvSpPr/>
          <p:nvPr/>
        </p:nvSpPr>
        <p:spPr>
          <a:xfrm>
            <a:off x="-1" y="6300321"/>
            <a:ext cx="1664238" cy="523220"/>
          </a:xfrm>
          <a:prstGeom prst="rect">
            <a:avLst/>
          </a:prstGeom>
        </p:spPr>
        <p:txBody>
          <a:bodyPr wrap="none">
            <a:spAutoFit/>
          </a:bodyPr>
          <a:lstStyle/>
          <a:p>
            <a:pPr algn="ctr"/>
            <a:r>
              <a:rPr lang="en-US" sz="1400" b="1" dirty="0">
                <a:latin typeface="Times New Roman" panose="02020603050405020304" pitchFamily="18" charset="0"/>
                <a:cs typeface="Times New Roman" panose="02020603050405020304" pitchFamily="18" charset="0"/>
              </a:rPr>
              <a:t>Date:</a:t>
            </a:r>
            <a:endParaRPr lang="en-IN" sz="1400" b="1" dirty="0">
              <a:latin typeface="Times New Roman" panose="02020603050405020304" pitchFamily="18" charset="0"/>
              <a:cs typeface="Times New Roman" panose="02020603050405020304" pitchFamily="18" charset="0"/>
            </a:endParaRPr>
          </a:p>
          <a:p>
            <a:r>
              <a:rPr lang="en-IN" sz="1400" b="1" dirty="0">
                <a:latin typeface="Times New Roman" panose="02020603050405020304" pitchFamily="18" charset="0"/>
                <a:cs typeface="Times New Roman" panose="02020603050405020304" pitchFamily="18" charset="0"/>
              </a:rPr>
              <a:t>10</a:t>
            </a:r>
            <a:r>
              <a:rPr lang="en-IN" sz="1400" b="1" baseline="30000" dirty="0">
                <a:latin typeface="Times New Roman" panose="02020603050405020304" pitchFamily="18" charset="0"/>
                <a:cs typeface="Times New Roman" panose="02020603050405020304" pitchFamily="18" charset="0"/>
              </a:rPr>
              <a:t>th</a:t>
            </a:r>
            <a:r>
              <a:rPr lang="en-IN" sz="1400" b="1" dirty="0">
                <a:latin typeface="Times New Roman" panose="02020603050405020304" pitchFamily="18" charset="0"/>
                <a:cs typeface="Times New Roman" panose="02020603050405020304" pitchFamily="18" charset="0"/>
              </a:rPr>
              <a:t> MARCH, 2025</a:t>
            </a:r>
          </a:p>
        </p:txBody>
      </p:sp>
    </p:spTree>
    <p:extLst>
      <p:ext uri="{BB962C8B-B14F-4D97-AF65-F5344CB8AC3E}">
        <p14:creationId xmlns:p14="http://schemas.microsoft.com/office/powerpoint/2010/main" val="29748625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268</TotalTime>
  <Words>1628</Words>
  <Application>Microsoft Office PowerPoint</Application>
  <PresentationFormat>Widescreen</PresentationFormat>
  <Paragraphs>157</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Calibri Light</vt:lpstr>
      <vt:lpstr>Times New Roman</vt:lpstr>
      <vt:lpstr>Office Theme</vt:lpstr>
      <vt:lpstr>INTERNATIONAL CONFERENCE  ON  CURRENT TRENDS IN INFORMATION TECHNOLOGY (ICCTIT-2025) Organized by  School of Information Technology, St. Joseph’s University, Bangalore</vt:lpstr>
      <vt:lpstr>INTRODUCTION </vt:lpstr>
      <vt:lpstr>BACKGROUND &amp; CONTEXT </vt:lpstr>
      <vt:lpstr>PROBLEM STATEMENT</vt:lpstr>
      <vt:lpstr>METHODOLOGY</vt:lpstr>
      <vt:lpstr>METHODOLOGY</vt:lpstr>
      <vt:lpstr>RESULTS AND DISCUSSION</vt:lpstr>
      <vt:lpstr>RESULTS AND DISCUSSION</vt:lpstr>
      <vt:lpstr>RESULTS AND DISCUSSION</vt:lpstr>
      <vt:lpstr>KEY TAKEAWAY: ETHICS</vt:lpstr>
      <vt:lpstr>CHALLENGES &amp; LIMITATIONS</vt:lpstr>
      <vt:lpstr>FUTURE ENHANCEMENT</vt:lpstr>
      <vt:lpstr>CONCLUSION</vt:lpstr>
      <vt:lpstr>REFERENCES </vt:lpstr>
      <vt:lpstr>QUESTIONS AND ANSWERS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INTERNATIONAL CONFERENCE ON CURRENT TRENDS IN INFORMATION TECHNOLOGY (ICCTIT-2025)</dc:title>
  <dc:creator>Mithun D Souza</dc:creator>
  <cp:lastModifiedBy>Krithika Kannan</cp:lastModifiedBy>
  <cp:revision>35</cp:revision>
  <dcterms:created xsi:type="dcterms:W3CDTF">2025-02-24T10:30:28Z</dcterms:created>
  <dcterms:modified xsi:type="dcterms:W3CDTF">2025-03-10T08:50:46Z</dcterms:modified>
</cp:coreProperties>
</file>